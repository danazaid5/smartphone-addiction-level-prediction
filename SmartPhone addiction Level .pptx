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ilk Tea Font TH" charset="1" panose="02000503000000000000"/>
      <p:regular r:id="rId24"/>
    </p:embeddedFont>
    <p:embeddedFont>
      <p:font typeface="Bobby Jones Soft" charset="1" panose="00000000000000000000"/>
      <p:regular r:id="rId25"/>
    </p:embeddedFont>
    <p:embeddedFont>
      <p:font typeface="Milk Tea Font TH Bold" charset="1" panose="02000503000000000000"/>
      <p:regular r:id="rId26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30.pn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-5141951" y="-991420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7" y="0"/>
                </a:lnTo>
                <a:lnTo>
                  <a:pt x="8773957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17113">
            <a:off x="8758672" y="7869401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1" y="0"/>
                </a:lnTo>
                <a:lnTo>
                  <a:pt x="10213201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00954">
            <a:off x="1342164" y="1240248"/>
            <a:ext cx="3497911" cy="2524856"/>
          </a:xfrm>
          <a:custGeom>
            <a:avLst/>
            <a:gdLst/>
            <a:ahLst/>
            <a:cxnLst/>
            <a:rect r="r" b="b" t="t" l="l"/>
            <a:pathLst>
              <a:path h="2524856" w="3497911">
                <a:moveTo>
                  <a:pt x="0" y="0"/>
                </a:moveTo>
                <a:lnTo>
                  <a:pt x="3497912" y="0"/>
                </a:lnTo>
                <a:lnTo>
                  <a:pt x="3497912" y="2524856"/>
                </a:lnTo>
                <a:lnTo>
                  <a:pt x="0" y="2524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287112" y="6807675"/>
            <a:ext cx="7630662" cy="2207653"/>
            <a:chOff x="0" y="0"/>
            <a:chExt cx="2213824" cy="6404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3824" cy="640489"/>
            </a:xfrm>
            <a:custGeom>
              <a:avLst/>
              <a:gdLst/>
              <a:ahLst/>
              <a:cxnLst/>
              <a:rect r="r" b="b" t="t" l="l"/>
              <a:pathLst>
                <a:path h="640489" w="2213824">
                  <a:moveTo>
                    <a:pt x="0" y="0"/>
                  </a:moveTo>
                  <a:lnTo>
                    <a:pt x="2213824" y="0"/>
                  </a:lnTo>
                  <a:lnTo>
                    <a:pt x="2213824" y="640489"/>
                  </a:lnTo>
                  <a:lnTo>
                    <a:pt x="0" y="640489"/>
                  </a:ln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13824" cy="688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450165">
            <a:off x="1546041" y="4683590"/>
            <a:ext cx="1127144" cy="1577429"/>
          </a:xfrm>
          <a:custGeom>
            <a:avLst/>
            <a:gdLst/>
            <a:ahLst/>
            <a:cxnLst/>
            <a:rect r="r" b="b" t="t" l="l"/>
            <a:pathLst>
              <a:path h="1577429" w="1127144">
                <a:moveTo>
                  <a:pt x="0" y="0"/>
                </a:moveTo>
                <a:lnTo>
                  <a:pt x="1127144" y="0"/>
                </a:lnTo>
                <a:lnTo>
                  <a:pt x="1127144" y="1577428"/>
                </a:lnTo>
                <a:lnTo>
                  <a:pt x="0" y="157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57004" y="8175391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79"/>
                </a:lnTo>
                <a:lnTo>
                  <a:pt x="0" y="2853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26160" y="1944955"/>
            <a:ext cx="2625268" cy="2966404"/>
          </a:xfrm>
          <a:custGeom>
            <a:avLst/>
            <a:gdLst/>
            <a:ahLst/>
            <a:cxnLst/>
            <a:rect r="r" b="b" t="t" l="l"/>
            <a:pathLst>
              <a:path h="2966404" w="2625268">
                <a:moveTo>
                  <a:pt x="0" y="0"/>
                </a:moveTo>
                <a:lnTo>
                  <a:pt x="2625268" y="0"/>
                </a:lnTo>
                <a:lnTo>
                  <a:pt x="2625268" y="2966404"/>
                </a:lnTo>
                <a:lnTo>
                  <a:pt x="0" y="29664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31962" y="7015661"/>
            <a:ext cx="1755150" cy="2890218"/>
          </a:xfrm>
          <a:custGeom>
            <a:avLst/>
            <a:gdLst/>
            <a:ahLst/>
            <a:cxnLst/>
            <a:rect r="r" b="b" t="t" l="l"/>
            <a:pathLst>
              <a:path h="2890218" w="1755150">
                <a:moveTo>
                  <a:pt x="0" y="0"/>
                </a:moveTo>
                <a:lnTo>
                  <a:pt x="1755150" y="0"/>
                </a:lnTo>
                <a:lnTo>
                  <a:pt x="1755150" y="2890218"/>
                </a:lnTo>
                <a:lnTo>
                  <a:pt x="0" y="28902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54280" y="6880417"/>
            <a:ext cx="7496327" cy="237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  <a:spcBef>
                <a:spcPct val="0"/>
              </a:spcBef>
            </a:pPr>
            <a:r>
              <a:rPr lang="en-US" sz="3135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Alya</a:t>
            </a:r>
            <a:r>
              <a:rPr lang="en-US" sz="3135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A</a:t>
            </a:r>
            <a:r>
              <a:rPr lang="en-US" sz="3135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lmuqren 444200610</a:t>
            </a:r>
          </a:p>
          <a:p>
            <a:pPr algn="ctr">
              <a:lnSpc>
                <a:spcPts val="3762"/>
              </a:lnSpc>
              <a:spcBef>
                <a:spcPct val="0"/>
              </a:spcBef>
            </a:pPr>
            <a:r>
              <a:rPr lang="en-US" sz="3135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Dana Alsalami 443200945</a:t>
            </a:r>
          </a:p>
          <a:p>
            <a:pPr algn="ctr">
              <a:lnSpc>
                <a:spcPts val="3762"/>
              </a:lnSpc>
              <a:spcBef>
                <a:spcPct val="0"/>
              </a:spcBef>
            </a:pPr>
            <a:r>
              <a:rPr lang="en-US" sz="3135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Aljohara Alsultan 444203635</a:t>
            </a:r>
          </a:p>
          <a:p>
            <a:pPr algn="ctr">
              <a:lnSpc>
                <a:spcPts val="3762"/>
              </a:lnSpc>
              <a:spcBef>
                <a:spcPct val="0"/>
              </a:spcBef>
            </a:pPr>
            <a:r>
              <a:rPr lang="en-US" sz="3135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Aljudy Altorkistani 444203157</a:t>
            </a:r>
          </a:p>
          <a:p>
            <a:pPr algn="ctr">
              <a:lnSpc>
                <a:spcPts val="3762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29839" y="6705660"/>
            <a:ext cx="3054804" cy="3224842"/>
          </a:xfrm>
          <a:custGeom>
            <a:avLst/>
            <a:gdLst/>
            <a:ahLst/>
            <a:cxnLst/>
            <a:rect r="r" b="b" t="t" l="l"/>
            <a:pathLst>
              <a:path h="3224842" w="3054804">
                <a:moveTo>
                  <a:pt x="0" y="0"/>
                </a:moveTo>
                <a:lnTo>
                  <a:pt x="3054805" y="0"/>
                </a:lnTo>
                <a:lnTo>
                  <a:pt x="3054805" y="3224841"/>
                </a:lnTo>
                <a:lnTo>
                  <a:pt x="0" y="32248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91298" y="2474101"/>
            <a:ext cx="11347899" cy="344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9"/>
              </a:lnSpc>
              <a:spcBef>
                <a:spcPct val="0"/>
              </a:spcBef>
            </a:pPr>
            <a:r>
              <a:rPr lang="en-US" sz="1125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SMARTPHONE ADDICTION LEVEL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7086" y="9210675"/>
            <a:ext cx="4793828" cy="471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Supervised by: Dr. Afshan Jafri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038495">
            <a:off x="-2979174" y="3501894"/>
            <a:ext cx="11899343" cy="10384881"/>
          </a:xfrm>
          <a:custGeom>
            <a:avLst/>
            <a:gdLst/>
            <a:ahLst/>
            <a:cxnLst/>
            <a:rect r="r" b="b" t="t" l="l"/>
            <a:pathLst>
              <a:path h="10384881" w="11899343">
                <a:moveTo>
                  <a:pt x="0" y="0"/>
                </a:moveTo>
                <a:lnTo>
                  <a:pt x="11899343" y="0"/>
                </a:lnTo>
                <a:lnTo>
                  <a:pt x="11899343" y="10384881"/>
                </a:lnTo>
                <a:lnTo>
                  <a:pt x="0" y="1038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8758672" y="7869401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1" y="0"/>
                </a:lnTo>
                <a:lnTo>
                  <a:pt x="10213201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68805" y="3460615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79"/>
                </a:lnTo>
                <a:lnTo>
                  <a:pt x="0" y="285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72291" y="8314937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3"/>
                </a:lnTo>
                <a:lnTo>
                  <a:pt x="0" y="123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867564">
            <a:off x="151125" y="7249225"/>
            <a:ext cx="1755150" cy="2890218"/>
          </a:xfrm>
          <a:custGeom>
            <a:avLst/>
            <a:gdLst/>
            <a:ahLst/>
            <a:cxnLst/>
            <a:rect r="r" b="b" t="t" l="l"/>
            <a:pathLst>
              <a:path h="2890218" w="1755150">
                <a:moveTo>
                  <a:pt x="0" y="0"/>
                </a:moveTo>
                <a:lnTo>
                  <a:pt x="1755150" y="0"/>
                </a:lnTo>
                <a:lnTo>
                  <a:pt x="1755150" y="2890218"/>
                </a:lnTo>
                <a:lnTo>
                  <a:pt x="0" y="2890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50165">
            <a:off x="16052993" y="1354354"/>
            <a:ext cx="1457642" cy="2039957"/>
          </a:xfrm>
          <a:custGeom>
            <a:avLst/>
            <a:gdLst/>
            <a:ahLst/>
            <a:cxnLst/>
            <a:rect r="r" b="b" t="t" l="l"/>
            <a:pathLst>
              <a:path h="2039957" w="1457642">
                <a:moveTo>
                  <a:pt x="0" y="0"/>
                </a:moveTo>
                <a:lnTo>
                  <a:pt x="1457642" y="0"/>
                </a:lnTo>
                <a:lnTo>
                  <a:pt x="1457642" y="2039957"/>
                </a:lnTo>
                <a:lnTo>
                  <a:pt x="0" y="20399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6118" y="1509294"/>
            <a:ext cx="3946312" cy="99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736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A</a:t>
            </a:r>
            <a:r>
              <a:rPr lang="en-US" sz="736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GENDA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66118" y="2994932"/>
            <a:ext cx="7567460" cy="931366"/>
            <a:chOff x="0" y="0"/>
            <a:chExt cx="10089947" cy="124182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392455" y="0"/>
              <a:ext cx="9697492" cy="1241821"/>
              <a:chOff x="0" y="0"/>
              <a:chExt cx="1915554" cy="24529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5554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1915554">
                    <a:moveTo>
                      <a:pt x="0" y="0"/>
                    </a:moveTo>
                    <a:lnTo>
                      <a:pt x="1915554" y="0"/>
                    </a:lnTo>
                    <a:lnTo>
                      <a:pt x="1915554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915554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Introduction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443656" cy="1241821"/>
              <a:chOff x="0" y="0"/>
              <a:chExt cx="285167" cy="24529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85167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285167">
                    <a:moveTo>
                      <a:pt x="0" y="0"/>
                    </a:moveTo>
                    <a:lnTo>
                      <a:pt x="285167" y="0"/>
                    </a:lnTo>
                    <a:lnTo>
                      <a:pt x="285167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85167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01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866118" y="4322289"/>
            <a:ext cx="7567460" cy="931366"/>
            <a:chOff x="0" y="0"/>
            <a:chExt cx="10089947" cy="124182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392455" y="0"/>
              <a:ext cx="9697492" cy="1241821"/>
              <a:chOff x="0" y="0"/>
              <a:chExt cx="1915554" cy="24529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5554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1915554">
                    <a:moveTo>
                      <a:pt x="0" y="0"/>
                    </a:moveTo>
                    <a:lnTo>
                      <a:pt x="1915554" y="0"/>
                    </a:lnTo>
                    <a:lnTo>
                      <a:pt x="1915554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915554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 Related Works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443656" cy="1241821"/>
              <a:chOff x="0" y="0"/>
              <a:chExt cx="285167" cy="24529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5167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285167">
                    <a:moveTo>
                      <a:pt x="0" y="0"/>
                    </a:moveTo>
                    <a:lnTo>
                      <a:pt x="285167" y="0"/>
                    </a:lnTo>
                    <a:lnTo>
                      <a:pt x="285167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85167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02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866118" y="5649647"/>
            <a:ext cx="7567460" cy="931366"/>
            <a:chOff x="0" y="0"/>
            <a:chExt cx="10089947" cy="124182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392455" y="0"/>
              <a:ext cx="9697492" cy="1241821"/>
              <a:chOff x="0" y="0"/>
              <a:chExt cx="1915554" cy="24529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15554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1915554">
                    <a:moveTo>
                      <a:pt x="0" y="0"/>
                    </a:moveTo>
                    <a:lnTo>
                      <a:pt x="1915554" y="0"/>
                    </a:lnTo>
                    <a:lnTo>
                      <a:pt x="1915554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915554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Data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1443656" cy="1241821"/>
              <a:chOff x="0" y="0"/>
              <a:chExt cx="285167" cy="24529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85167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285167">
                    <a:moveTo>
                      <a:pt x="0" y="0"/>
                    </a:moveTo>
                    <a:lnTo>
                      <a:pt x="285167" y="0"/>
                    </a:lnTo>
                    <a:lnTo>
                      <a:pt x="285167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85167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03</a:t>
                </a: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866118" y="6977005"/>
            <a:ext cx="7567460" cy="931366"/>
            <a:chOff x="0" y="0"/>
            <a:chExt cx="10089947" cy="124182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392455" y="0"/>
              <a:ext cx="9697492" cy="1241821"/>
              <a:chOff x="0" y="0"/>
              <a:chExt cx="1915554" cy="24529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915554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1915554">
                    <a:moveTo>
                      <a:pt x="0" y="0"/>
                    </a:moveTo>
                    <a:lnTo>
                      <a:pt x="1915554" y="0"/>
                    </a:lnTo>
                    <a:lnTo>
                      <a:pt x="1915554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915554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Method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443656" cy="1241821"/>
              <a:chOff x="0" y="0"/>
              <a:chExt cx="285167" cy="24529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85167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285167">
                    <a:moveTo>
                      <a:pt x="0" y="0"/>
                    </a:moveTo>
                    <a:lnTo>
                      <a:pt x="285167" y="0"/>
                    </a:lnTo>
                    <a:lnTo>
                      <a:pt x="285167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85167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04</a:t>
                </a: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081542" y="2994932"/>
            <a:ext cx="7567460" cy="931366"/>
            <a:chOff x="0" y="0"/>
            <a:chExt cx="10089947" cy="1241821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392455" y="0"/>
              <a:ext cx="9697492" cy="1241821"/>
              <a:chOff x="0" y="0"/>
              <a:chExt cx="1915554" cy="24529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15554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1915554">
                    <a:moveTo>
                      <a:pt x="0" y="0"/>
                    </a:moveTo>
                    <a:lnTo>
                      <a:pt x="1915554" y="0"/>
                    </a:lnTo>
                    <a:lnTo>
                      <a:pt x="1915554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915554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Experiments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1443656" cy="1241821"/>
              <a:chOff x="0" y="0"/>
              <a:chExt cx="285167" cy="24529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85167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285167">
                    <a:moveTo>
                      <a:pt x="0" y="0"/>
                    </a:moveTo>
                    <a:lnTo>
                      <a:pt x="285167" y="0"/>
                    </a:lnTo>
                    <a:lnTo>
                      <a:pt x="285167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285167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05</a:t>
                </a: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10081542" y="4322289"/>
            <a:ext cx="7567460" cy="931366"/>
            <a:chOff x="0" y="0"/>
            <a:chExt cx="10089947" cy="1241821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392455" y="0"/>
              <a:ext cx="9697492" cy="1241821"/>
              <a:chOff x="0" y="0"/>
              <a:chExt cx="1915554" cy="24529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915554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1915554">
                    <a:moveTo>
                      <a:pt x="0" y="0"/>
                    </a:moveTo>
                    <a:lnTo>
                      <a:pt x="1915554" y="0"/>
                    </a:lnTo>
                    <a:lnTo>
                      <a:pt x="1915554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1915554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Results &amp; Discussion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0"/>
              <a:ext cx="1443656" cy="1241821"/>
              <a:chOff x="0" y="0"/>
              <a:chExt cx="285167" cy="24529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85167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285167">
                    <a:moveTo>
                      <a:pt x="0" y="0"/>
                    </a:moveTo>
                    <a:lnTo>
                      <a:pt x="285167" y="0"/>
                    </a:lnTo>
                    <a:lnTo>
                      <a:pt x="285167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285167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06</a:t>
                </a: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10081542" y="5649647"/>
            <a:ext cx="7567460" cy="931366"/>
            <a:chOff x="0" y="0"/>
            <a:chExt cx="10089947" cy="1241821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392455" y="0"/>
              <a:ext cx="9697492" cy="1241821"/>
              <a:chOff x="0" y="0"/>
              <a:chExt cx="1915554" cy="24529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915554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1915554">
                    <a:moveTo>
                      <a:pt x="0" y="0"/>
                    </a:moveTo>
                    <a:lnTo>
                      <a:pt x="1915554" y="0"/>
                    </a:lnTo>
                    <a:lnTo>
                      <a:pt x="1915554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915554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Conclusion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1443656" cy="1241821"/>
              <a:chOff x="0" y="0"/>
              <a:chExt cx="285167" cy="245298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85167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285167">
                    <a:moveTo>
                      <a:pt x="0" y="0"/>
                    </a:moveTo>
                    <a:lnTo>
                      <a:pt x="285167" y="0"/>
                    </a:lnTo>
                    <a:lnTo>
                      <a:pt x="285167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285167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07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10081542" y="6977005"/>
            <a:ext cx="7567460" cy="931366"/>
            <a:chOff x="0" y="0"/>
            <a:chExt cx="10089947" cy="1241821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392455" y="0"/>
              <a:ext cx="9697492" cy="1241821"/>
              <a:chOff x="0" y="0"/>
              <a:chExt cx="1915554" cy="245298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915554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1915554">
                    <a:moveTo>
                      <a:pt x="0" y="0"/>
                    </a:moveTo>
                    <a:lnTo>
                      <a:pt x="1915554" y="0"/>
                    </a:lnTo>
                    <a:lnTo>
                      <a:pt x="1915554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1915554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Live Demo</a:t>
                </a: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0"/>
              <a:ext cx="1443656" cy="1241821"/>
              <a:chOff x="0" y="0"/>
              <a:chExt cx="285167" cy="245298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85167" cy="245298"/>
              </a:xfrm>
              <a:custGeom>
                <a:avLst/>
                <a:gdLst/>
                <a:ahLst/>
                <a:cxnLst/>
                <a:rect r="r" b="b" t="t" l="l"/>
                <a:pathLst>
                  <a:path h="245298" w="285167">
                    <a:moveTo>
                      <a:pt x="0" y="0"/>
                    </a:moveTo>
                    <a:lnTo>
                      <a:pt x="285167" y="0"/>
                    </a:lnTo>
                    <a:lnTo>
                      <a:pt x="285167" y="245298"/>
                    </a:lnTo>
                    <a:lnTo>
                      <a:pt x="0" y="245298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285167" cy="283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08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038495">
            <a:off x="-2979174" y="3501894"/>
            <a:ext cx="11899343" cy="10384881"/>
          </a:xfrm>
          <a:custGeom>
            <a:avLst/>
            <a:gdLst/>
            <a:ahLst/>
            <a:cxnLst/>
            <a:rect r="r" b="b" t="t" l="l"/>
            <a:pathLst>
              <a:path h="10384881" w="11899343">
                <a:moveTo>
                  <a:pt x="0" y="0"/>
                </a:moveTo>
                <a:lnTo>
                  <a:pt x="11899343" y="0"/>
                </a:lnTo>
                <a:lnTo>
                  <a:pt x="11899343" y="10384881"/>
                </a:lnTo>
                <a:lnTo>
                  <a:pt x="0" y="1038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8758672" y="7869401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1" y="0"/>
                </a:lnTo>
                <a:lnTo>
                  <a:pt x="10213201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14313" y="3391940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1446" y="6038024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1" y="0"/>
                </a:lnTo>
                <a:lnTo>
                  <a:pt x="2342671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17004" y="371046"/>
            <a:ext cx="4642296" cy="4772454"/>
          </a:xfrm>
          <a:custGeom>
            <a:avLst/>
            <a:gdLst/>
            <a:ahLst/>
            <a:cxnLst/>
            <a:rect r="r" b="b" t="t" l="l"/>
            <a:pathLst>
              <a:path h="4772454" w="4642296">
                <a:moveTo>
                  <a:pt x="0" y="0"/>
                </a:moveTo>
                <a:lnTo>
                  <a:pt x="4642296" y="0"/>
                </a:lnTo>
                <a:lnTo>
                  <a:pt x="4642296" y="4772454"/>
                </a:lnTo>
                <a:lnTo>
                  <a:pt x="0" y="47724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90482" y="2449581"/>
            <a:ext cx="9072640" cy="3190285"/>
            <a:chOff x="0" y="0"/>
            <a:chExt cx="12096854" cy="425371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096854" cy="4253714"/>
              <a:chOff x="0" y="0"/>
              <a:chExt cx="2632174" cy="92557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32174" cy="925572"/>
              </a:xfrm>
              <a:custGeom>
                <a:avLst/>
                <a:gdLst/>
                <a:ahLst/>
                <a:cxnLst/>
                <a:rect r="r" b="b" t="t" l="l"/>
                <a:pathLst>
                  <a:path h="925572" w="2632174">
                    <a:moveTo>
                      <a:pt x="30720" y="0"/>
                    </a:moveTo>
                    <a:lnTo>
                      <a:pt x="2601454" y="0"/>
                    </a:lnTo>
                    <a:cubicBezTo>
                      <a:pt x="2609602" y="0"/>
                      <a:pt x="2617415" y="3237"/>
                      <a:pt x="2623177" y="8998"/>
                    </a:cubicBezTo>
                    <a:cubicBezTo>
                      <a:pt x="2628938" y="14759"/>
                      <a:pt x="2632174" y="22572"/>
                      <a:pt x="2632174" y="30720"/>
                    </a:cubicBezTo>
                    <a:lnTo>
                      <a:pt x="2632174" y="894853"/>
                    </a:lnTo>
                    <a:cubicBezTo>
                      <a:pt x="2632174" y="903000"/>
                      <a:pt x="2628938" y="910814"/>
                      <a:pt x="2623177" y="916575"/>
                    </a:cubicBezTo>
                    <a:cubicBezTo>
                      <a:pt x="2617415" y="922336"/>
                      <a:pt x="2609602" y="925572"/>
                      <a:pt x="2601454" y="925572"/>
                    </a:cubicBezTo>
                    <a:lnTo>
                      <a:pt x="30720" y="925572"/>
                    </a:lnTo>
                    <a:cubicBezTo>
                      <a:pt x="22572" y="925572"/>
                      <a:pt x="14759" y="922336"/>
                      <a:pt x="8998" y="916575"/>
                    </a:cubicBezTo>
                    <a:cubicBezTo>
                      <a:pt x="3237" y="910814"/>
                      <a:pt x="0" y="903000"/>
                      <a:pt x="0" y="894853"/>
                    </a:cubicBezTo>
                    <a:lnTo>
                      <a:pt x="0" y="30720"/>
                    </a:lnTo>
                    <a:cubicBezTo>
                      <a:pt x="0" y="22572"/>
                      <a:pt x="3237" y="14759"/>
                      <a:pt x="8998" y="8998"/>
                    </a:cubicBezTo>
                    <a:cubicBezTo>
                      <a:pt x="14759" y="3237"/>
                      <a:pt x="22572" y="0"/>
                      <a:pt x="30720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632174" cy="9731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37746" y="300839"/>
              <a:ext cx="11221362" cy="3952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Smartphones have become an essential part of daily life, but excess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ive usage can lead to behavioral addiction. Smartphone addiction is associated w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ith problems such as reduced productivity, poor sleep quality, and increased stress levels. Recent studies have explored the use of machine learning techniques to predict addiction behavior using usage-related features.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152525"/>
            <a:ext cx="10156723" cy="99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736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I</a:t>
            </a:r>
            <a:r>
              <a:rPr lang="en-US" sz="736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NTRODUCTION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220897" y="9402271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3"/>
                </a:lnTo>
                <a:lnTo>
                  <a:pt x="0" y="1239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5865512" y="5742573"/>
            <a:ext cx="9072640" cy="4898840"/>
            <a:chOff x="0" y="0"/>
            <a:chExt cx="12096854" cy="653178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096854" cy="5476200"/>
              <a:chOff x="0" y="0"/>
              <a:chExt cx="2632174" cy="11915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632174" cy="1191575"/>
              </a:xfrm>
              <a:custGeom>
                <a:avLst/>
                <a:gdLst/>
                <a:ahLst/>
                <a:cxnLst/>
                <a:rect r="r" b="b" t="t" l="l"/>
                <a:pathLst>
                  <a:path h="1191575" w="2632174">
                    <a:moveTo>
                      <a:pt x="30720" y="0"/>
                    </a:moveTo>
                    <a:lnTo>
                      <a:pt x="2601454" y="0"/>
                    </a:lnTo>
                    <a:cubicBezTo>
                      <a:pt x="2609602" y="0"/>
                      <a:pt x="2617415" y="3237"/>
                      <a:pt x="2623177" y="8998"/>
                    </a:cubicBezTo>
                    <a:cubicBezTo>
                      <a:pt x="2628938" y="14759"/>
                      <a:pt x="2632174" y="22572"/>
                      <a:pt x="2632174" y="30720"/>
                    </a:cubicBezTo>
                    <a:lnTo>
                      <a:pt x="2632174" y="1160855"/>
                    </a:lnTo>
                    <a:cubicBezTo>
                      <a:pt x="2632174" y="1177821"/>
                      <a:pt x="2618420" y="1191575"/>
                      <a:pt x="2601454" y="1191575"/>
                    </a:cubicBezTo>
                    <a:lnTo>
                      <a:pt x="30720" y="1191575"/>
                    </a:lnTo>
                    <a:cubicBezTo>
                      <a:pt x="22572" y="1191575"/>
                      <a:pt x="14759" y="1188339"/>
                      <a:pt x="8998" y="1182578"/>
                    </a:cubicBezTo>
                    <a:cubicBezTo>
                      <a:pt x="3237" y="1176816"/>
                      <a:pt x="0" y="1169003"/>
                      <a:pt x="0" y="1160855"/>
                    </a:cubicBezTo>
                    <a:lnTo>
                      <a:pt x="0" y="30720"/>
                    </a:lnTo>
                    <a:cubicBezTo>
                      <a:pt x="0" y="22572"/>
                      <a:pt x="3237" y="14759"/>
                      <a:pt x="8998" y="8998"/>
                    </a:cubicBezTo>
                    <a:cubicBezTo>
                      <a:pt x="14759" y="3237"/>
                      <a:pt x="22572" y="0"/>
                      <a:pt x="30720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632174" cy="1239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52135" y="152153"/>
              <a:ext cx="11447484" cy="6379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In t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his project, we aim to classify users into four smartphone addiction levels:</a:t>
              </a:r>
            </a:p>
            <a:p>
              <a:pPr algn="just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Low</a:t>
              </a:r>
            </a:p>
            <a:p>
              <a:pPr algn="just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Moderate</a:t>
              </a:r>
            </a:p>
            <a:p>
              <a:pPr algn="just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High</a:t>
              </a:r>
            </a:p>
            <a:p>
              <a:pPr algn="just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Severe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The project evaluates whether behavioral and demographic features can effectively distinguish between addiction categories.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45724">
            <a:off x="-2470425" y="6030452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34565" y="2364523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70829" y="6343659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1" y="0"/>
                </a:lnTo>
                <a:lnTo>
                  <a:pt x="2342671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70829" y="1846957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3"/>
                </a:lnTo>
                <a:lnTo>
                  <a:pt x="0" y="1239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78776" y="478437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4987096" y="2094063"/>
          <a:ext cx="12982888" cy="7832553"/>
        </p:xfrm>
        <a:graphic>
          <a:graphicData uri="http://schemas.openxmlformats.org/drawingml/2006/table">
            <a:tbl>
              <a:tblPr/>
              <a:tblGrid>
                <a:gridCol w="4327629"/>
                <a:gridCol w="4327629"/>
                <a:gridCol w="4327629"/>
              </a:tblGrid>
              <a:tr h="10101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Milk Tea Font TH Bold"/>
                          <a:ea typeface="Milk Tea Font TH Bold"/>
                          <a:cs typeface="Milk Tea Font TH Bold"/>
                          <a:sym typeface="Milk Tea Font TH Bold"/>
                        </a:rPr>
                        <a:t>Study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Milk Tea Font TH Bold"/>
                          <a:ea typeface="Milk Tea Font TH Bold"/>
                          <a:cs typeface="Milk Tea Font TH Bold"/>
                          <a:sym typeface="Milk Tea Font TH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Milk Tea Font TH Bold"/>
                          <a:ea typeface="Milk Tea Font TH Bold"/>
                          <a:cs typeface="Milk Tea Font TH Bold"/>
                          <a:sym typeface="Milk Tea Font TH Bold"/>
                        </a:rPr>
                        <a:t>Main Finding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25275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Lee et al. (2021)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Decision Tree, Random Forest, and 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G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eneral demographic information such as age group, job classification, and sex did not contribute much to predicting smartphone addiction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767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Beluli(2023)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Supervised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Structured behavioral data from mobile usage can improve addiction prediction.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25275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Kong et al (2026)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XGBoost, SVM, Logistic Regression, KNN, Decision Tree, and Naïve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XGBoo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Milk Tea Font TH"/>
                          <a:ea typeface="Milk Tea Font TH"/>
                          <a:cs typeface="Milk Tea Font TH"/>
                          <a:sym typeface="Milk Tea Font TH"/>
                        </a:rPr>
                        <a:t>st achieved the best predictive accuracy at 92.5%, with demographic characteristics and smartphone content usage patterns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852333" y="1133475"/>
            <a:ext cx="10184072" cy="96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1"/>
              </a:lnSpc>
            </a:pPr>
            <a:r>
              <a:rPr lang="en-US" sz="7041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RE</a:t>
            </a:r>
            <a:r>
              <a:rPr lang="en-US" sz="7041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LATED WORKS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038495">
            <a:off x="-2979174" y="3501894"/>
            <a:ext cx="11899343" cy="10384881"/>
          </a:xfrm>
          <a:custGeom>
            <a:avLst/>
            <a:gdLst/>
            <a:ahLst/>
            <a:cxnLst/>
            <a:rect r="r" b="b" t="t" l="l"/>
            <a:pathLst>
              <a:path h="10384881" w="11899343">
                <a:moveTo>
                  <a:pt x="0" y="0"/>
                </a:moveTo>
                <a:lnTo>
                  <a:pt x="11899343" y="0"/>
                </a:lnTo>
                <a:lnTo>
                  <a:pt x="11899343" y="10384881"/>
                </a:lnTo>
                <a:lnTo>
                  <a:pt x="0" y="1038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8758672" y="7869401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1" y="0"/>
                </a:lnTo>
                <a:lnTo>
                  <a:pt x="10213201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58420" y="716109"/>
            <a:ext cx="2265785" cy="936405"/>
          </a:xfrm>
          <a:custGeom>
            <a:avLst/>
            <a:gdLst/>
            <a:ahLst/>
            <a:cxnLst/>
            <a:rect r="r" b="b" t="t" l="l"/>
            <a:pathLst>
              <a:path h="936405" w="2265785">
                <a:moveTo>
                  <a:pt x="0" y="0"/>
                </a:moveTo>
                <a:lnTo>
                  <a:pt x="2265785" y="0"/>
                </a:lnTo>
                <a:lnTo>
                  <a:pt x="2265785" y="936405"/>
                </a:lnTo>
                <a:lnTo>
                  <a:pt x="0" y="936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973950" y="0"/>
            <a:ext cx="1045091" cy="1922409"/>
          </a:xfrm>
          <a:custGeom>
            <a:avLst/>
            <a:gdLst/>
            <a:ahLst/>
            <a:cxnLst/>
            <a:rect r="r" b="b" t="t" l="l"/>
            <a:pathLst>
              <a:path h="1922409" w="1045091">
                <a:moveTo>
                  <a:pt x="0" y="0"/>
                </a:moveTo>
                <a:lnTo>
                  <a:pt x="1045092" y="0"/>
                </a:lnTo>
                <a:lnTo>
                  <a:pt x="1045092" y="1922409"/>
                </a:lnTo>
                <a:lnTo>
                  <a:pt x="0" y="1922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922409"/>
            <a:ext cx="8070961" cy="2706716"/>
            <a:chOff x="0" y="0"/>
            <a:chExt cx="10761282" cy="360895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761282" cy="3608954"/>
              <a:chOff x="0" y="0"/>
              <a:chExt cx="2341565" cy="78527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41565" cy="785278"/>
              </a:xfrm>
              <a:custGeom>
                <a:avLst/>
                <a:gdLst/>
                <a:ahLst/>
                <a:cxnLst/>
                <a:rect r="r" b="b" t="t" l="l"/>
                <a:pathLst>
                  <a:path h="785278" w="2341565">
                    <a:moveTo>
                      <a:pt x="34532" y="0"/>
                    </a:moveTo>
                    <a:lnTo>
                      <a:pt x="2307032" y="0"/>
                    </a:lnTo>
                    <a:cubicBezTo>
                      <a:pt x="2316191" y="0"/>
                      <a:pt x="2324975" y="3638"/>
                      <a:pt x="2331451" y="10114"/>
                    </a:cubicBezTo>
                    <a:cubicBezTo>
                      <a:pt x="2337927" y="16590"/>
                      <a:pt x="2341565" y="25374"/>
                      <a:pt x="2341565" y="34532"/>
                    </a:cubicBezTo>
                    <a:lnTo>
                      <a:pt x="2341565" y="750746"/>
                    </a:lnTo>
                    <a:cubicBezTo>
                      <a:pt x="2341565" y="759904"/>
                      <a:pt x="2337927" y="768688"/>
                      <a:pt x="2331451" y="775164"/>
                    </a:cubicBezTo>
                    <a:cubicBezTo>
                      <a:pt x="2324975" y="781640"/>
                      <a:pt x="2316191" y="785278"/>
                      <a:pt x="2307032" y="785278"/>
                    </a:cubicBezTo>
                    <a:lnTo>
                      <a:pt x="34532" y="785278"/>
                    </a:lnTo>
                    <a:cubicBezTo>
                      <a:pt x="25374" y="785278"/>
                      <a:pt x="16590" y="781640"/>
                      <a:pt x="10114" y="775164"/>
                    </a:cubicBezTo>
                    <a:cubicBezTo>
                      <a:pt x="3638" y="768688"/>
                      <a:pt x="0" y="759904"/>
                      <a:pt x="0" y="750746"/>
                    </a:cubicBezTo>
                    <a:lnTo>
                      <a:pt x="0" y="34532"/>
                    </a:lnTo>
                    <a:cubicBezTo>
                      <a:pt x="0" y="25374"/>
                      <a:pt x="3638" y="16590"/>
                      <a:pt x="10114" y="10114"/>
                    </a:cubicBezTo>
                    <a:cubicBezTo>
                      <a:pt x="16590" y="3638"/>
                      <a:pt x="25374" y="0"/>
                      <a:pt x="34532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341565" cy="8329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99175" y="277302"/>
              <a:ext cx="10244337" cy="306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Global Mobile Phone Addi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ction Dataset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Source: Kaggle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3000 user records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34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 features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Multi-class classification problem</a:t>
              </a:r>
            </a:p>
            <a:p>
              <a:pPr algn="ctr">
                <a:lnSpc>
                  <a:spcPts val="357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3039" y="4871519"/>
            <a:ext cx="8070961" cy="3078191"/>
            <a:chOff x="0" y="0"/>
            <a:chExt cx="10761282" cy="410425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761282" cy="4104254"/>
              <a:chOff x="0" y="0"/>
              <a:chExt cx="2341565" cy="8930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341565" cy="893051"/>
              </a:xfrm>
              <a:custGeom>
                <a:avLst/>
                <a:gdLst/>
                <a:ahLst/>
                <a:cxnLst/>
                <a:rect r="r" b="b" t="t" l="l"/>
                <a:pathLst>
                  <a:path h="893051" w="2341565">
                    <a:moveTo>
                      <a:pt x="34532" y="0"/>
                    </a:moveTo>
                    <a:lnTo>
                      <a:pt x="2307032" y="0"/>
                    </a:lnTo>
                    <a:cubicBezTo>
                      <a:pt x="2316191" y="0"/>
                      <a:pt x="2324975" y="3638"/>
                      <a:pt x="2331451" y="10114"/>
                    </a:cubicBezTo>
                    <a:cubicBezTo>
                      <a:pt x="2337927" y="16590"/>
                      <a:pt x="2341565" y="25374"/>
                      <a:pt x="2341565" y="34532"/>
                    </a:cubicBezTo>
                    <a:lnTo>
                      <a:pt x="2341565" y="858519"/>
                    </a:lnTo>
                    <a:cubicBezTo>
                      <a:pt x="2341565" y="867678"/>
                      <a:pt x="2337927" y="876461"/>
                      <a:pt x="2331451" y="882937"/>
                    </a:cubicBezTo>
                    <a:cubicBezTo>
                      <a:pt x="2324975" y="889413"/>
                      <a:pt x="2316191" y="893051"/>
                      <a:pt x="2307032" y="893051"/>
                    </a:cubicBezTo>
                    <a:lnTo>
                      <a:pt x="34532" y="893051"/>
                    </a:lnTo>
                    <a:cubicBezTo>
                      <a:pt x="25374" y="893051"/>
                      <a:pt x="16590" y="889413"/>
                      <a:pt x="10114" y="882937"/>
                    </a:cubicBezTo>
                    <a:cubicBezTo>
                      <a:pt x="3638" y="876461"/>
                      <a:pt x="0" y="867678"/>
                      <a:pt x="0" y="858519"/>
                    </a:cubicBezTo>
                    <a:lnTo>
                      <a:pt x="0" y="34532"/>
                    </a:lnTo>
                    <a:cubicBezTo>
                      <a:pt x="0" y="25374"/>
                      <a:pt x="3638" y="16590"/>
                      <a:pt x="10114" y="10114"/>
                    </a:cubicBezTo>
                    <a:cubicBezTo>
                      <a:pt x="16590" y="3638"/>
                      <a:pt x="25374" y="0"/>
                      <a:pt x="34532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341565" cy="940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99175" y="277302"/>
              <a:ext cx="10244337" cy="3559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Example Fe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atures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Daily screen time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Social media usage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Sleep hours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tress level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Phone unlocks per day</a:t>
              </a:r>
            </a:p>
            <a:p>
              <a:pPr algn="ctr">
                <a:lnSpc>
                  <a:spcPts val="3577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98283" y="1443423"/>
            <a:ext cx="6296124" cy="5262320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0458870" y="6593903"/>
            <a:ext cx="7317285" cy="3352343"/>
          </a:xfrm>
          <a:custGeom>
            <a:avLst/>
            <a:gdLst/>
            <a:ahLst/>
            <a:cxnLst/>
            <a:rect r="r" b="b" t="t" l="l"/>
            <a:pathLst>
              <a:path h="3352343" w="7317285">
                <a:moveTo>
                  <a:pt x="0" y="0"/>
                </a:moveTo>
                <a:lnTo>
                  <a:pt x="7317285" y="0"/>
                </a:lnTo>
                <a:lnTo>
                  <a:pt x="7317285" y="3352343"/>
                </a:lnTo>
                <a:lnTo>
                  <a:pt x="0" y="33523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2168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8187835"/>
            <a:ext cx="8115300" cy="1974246"/>
            <a:chOff x="0" y="0"/>
            <a:chExt cx="10820400" cy="263232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820400" cy="2632327"/>
              <a:chOff x="0" y="0"/>
              <a:chExt cx="2354428" cy="5727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354428" cy="572772"/>
              </a:xfrm>
              <a:custGeom>
                <a:avLst/>
                <a:gdLst/>
                <a:ahLst/>
                <a:cxnLst/>
                <a:rect r="r" b="b" t="t" l="l"/>
                <a:pathLst>
                  <a:path h="572772" w="2354428">
                    <a:moveTo>
                      <a:pt x="34344" y="0"/>
                    </a:moveTo>
                    <a:lnTo>
                      <a:pt x="2320085" y="0"/>
                    </a:lnTo>
                    <a:cubicBezTo>
                      <a:pt x="2339052" y="0"/>
                      <a:pt x="2354428" y="15376"/>
                      <a:pt x="2354428" y="34344"/>
                    </a:cubicBezTo>
                    <a:lnTo>
                      <a:pt x="2354428" y="538429"/>
                    </a:lnTo>
                    <a:cubicBezTo>
                      <a:pt x="2354428" y="547537"/>
                      <a:pt x="2350810" y="556273"/>
                      <a:pt x="2344369" y="562713"/>
                    </a:cubicBezTo>
                    <a:cubicBezTo>
                      <a:pt x="2337929" y="569154"/>
                      <a:pt x="2329193" y="572772"/>
                      <a:pt x="2320085" y="572772"/>
                    </a:cubicBezTo>
                    <a:lnTo>
                      <a:pt x="34344" y="572772"/>
                    </a:lnTo>
                    <a:cubicBezTo>
                      <a:pt x="25235" y="572772"/>
                      <a:pt x="16500" y="569154"/>
                      <a:pt x="10059" y="562713"/>
                    </a:cubicBezTo>
                    <a:cubicBezTo>
                      <a:pt x="3618" y="556273"/>
                      <a:pt x="0" y="547537"/>
                      <a:pt x="0" y="538429"/>
                    </a:cubicBezTo>
                    <a:lnTo>
                      <a:pt x="0" y="34344"/>
                    </a:lnTo>
                    <a:cubicBezTo>
                      <a:pt x="0" y="25235"/>
                      <a:pt x="3618" y="16500"/>
                      <a:pt x="10059" y="10059"/>
                    </a:cubicBezTo>
                    <a:cubicBezTo>
                      <a:pt x="16500" y="3618"/>
                      <a:pt x="25235" y="0"/>
                      <a:pt x="34344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354428" cy="620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28214" y="87439"/>
              <a:ext cx="10228849" cy="2466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Data Quality Issues Handled: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Edu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cation_Lev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el: 612 missing values (~20%) → imputed with mode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Multiple columns with impossible negative values → clipped to zero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322960" y="6496652"/>
            <a:ext cx="7589106" cy="3449594"/>
          </a:xfrm>
          <a:custGeom>
            <a:avLst/>
            <a:gdLst/>
            <a:ahLst/>
            <a:cxnLst/>
            <a:rect r="r" b="b" t="t" l="l"/>
            <a:pathLst>
              <a:path h="3449594" w="7589106">
                <a:moveTo>
                  <a:pt x="0" y="0"/>
                </a:moveTo>
                <a:lnTo>
                  <a:pt x="7589106" y="0"/>
                </a:lnTo>
                <a:lnTo>
                  <a:pt x="7589106" y="3449594"/>
                </a:lnTo>
                <a:lnTo>
                  <a:pt x="0" y="3449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73039" y="527729"/>
            <a:ext cx="3465506" cy="99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736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</a:t>
            </a:r>
            <a:r>
              <a:rPr lang="en-US" sz="736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ATASET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-2678176" y="7066755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8122" y="1909618"/>
            <a:ext cx="16773398" cy="1569890"/>
            <a:chOff x="0" y="0"/>
            <a:chExt cx="22364530" cy="209318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2364530" cy="1916791"/>
              <a:chOff x="0" y="0"/>
              <a:chExt cx="4866334" cy="41707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866334" cy="417078"/>
              </a:xfrm>
              <a:custGeom>
                <a:avLst/>
                <a:gdLst/>
                <a:ahLst/>
                <a:cxnLst/>
                <a:rect r="r" b="b" t="t" l="l"/>
                <a:pathLst>
                  <a:path h="417078" w="4866334">
                    <a:moveTo>
                      <a:pt x="16616" y="0"/>
                    </a:moveTo>
                    <a:lnTo>
                      <a:pt x="4849718" y="0"/>
                    </a:lnTo>
                    <a:cubicBezTo>
                      <a:pt x="4854125" y="0"/>
                      <a:pt x="4858352" y="1751"/>
                      <a:pt x="4861468" y="4867"/>
                    </a:cubicBezTo>
                    <a:cubicBezTo>
                      <a:pt x="4864584" y="7983"/>
                      <a:pt x="4866334" y="12209"/>
                      <a:pt x="4866334" y="16616"/>
                    </a:cubicBezTo>
                    <a:lnTo>
                      <a:pt x="4866334" y="400461"/>
                    </a:lnTo>
                    <a:cubicBezTo>
                      <a:pt x="4866334" y="409638"/>
                      <a:pt x="4858895" y="417078"/>
                      <a:pt x="4849718" y="417078"/>
                    </a:cubicBezTo>
                    <a:lnTo>
                      <a:pt x="16616" y="417078"/>
                    </a:lnTo>
                    <a:cubicBezTo>
                      <a:pt x="12209" y="417078"/>
                      <a:pt x="7983" y="415327"/>
                      <a:pt x="4867" y="412211"/>
                    </a:cubicBezTo>
                    <a:cubicBezTo>
                      <a:pt x="1751" y="409095"/>
                      <a:pt x="0" y="404868"/>
                      <a:pt x="0" y="400461"/>
                    </a:cubicBezTo>
                    <a:lnTo>
                      <a:pt x="0" y="16616"/>
                    </a:lnTo>
                    <a:cubicBezTo>
                      <a:pt x="0" y="12209"/>
                      <a:pt x="1751" y="7983"/>
                      <a:pt x="4867" y="4867"/>
                    </a:cubicBezTo>
                    <a:cubicBezTo>
                      <a:pt x="7983" y="1751"/>
                      <a:pt x="12209" y="0"/>
                      <a:pt x="16616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4866334" cy="4647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47578" y="121511"/>
              <a:ext cx="22116953" cy="1971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Class Distribution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The dataset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 is approximately bala</a:t>
              </a:r>
              <a:r>
                <a:rPr lang="en-US" sz="2499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nced across all four classes. Each addiction level represents around 25% of the dataset.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356040">
            <a:off x="15760145" y="40912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2"/>
                </a:lnTo>
                <a:lnTo>
                  <a:pt x="0" y="1239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22481"/>
            <a:ext cx="13859695" cy="216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0"/>
              </a:lnSpc>
            </a:pPr>
            <a:r>
              <a:rPr lang="en-US" sz="82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EXPLORAT</a:t>
            </a:r>
            <a:r>
              <a:rPr lang="en-US" sz="82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ORY DATA ANALYSIS</a:t>
            </a:r>
          </a:p>
          <a:p>
            <a:pPr algn="l">
              <a:lnSpc>
                <a:spcPts val="831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9626161" y="3739296"/>
            <a:ext cx="8251494" cy="6047544"/>
            <a:chOff x="0" y="0"/>
            <a:chExt cx="1278372" cy="9369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8372" cy="936923"/>
            </a:xfrm>
            <a:custGeom>
              <a:avLst/>
              <a:gdLst/>
              <a:ahLst/>
              <a:cxnLst/>
              <a:rect r="r" b="b" t="t" l="l"/>
              <a:pathLst>
                <a:path h="936923" w="1278372">
                  <a:moveTo>
                    <a:pt x="0" y="0"/>
                  </a:moveTo>
                  <a:lnTo>
                    <a:pt x="1278372" y="0"/>
                  </a:lnTo>
                  <a:lnTo>
                    <a:pt x="1278372" y="936923"/>
                  </a:lnTo>
                  <a:lnTo>
                    <a:pt x="0" y="936923"/>
                  </a:lnTo>
                  <a:close/>
                </a:path>
              </a:pathLst>
            </a:custGeom>
            <a:blipFill>
              <a:blip r:embed="rId6"/>
              <a:stretch>
                <a:fillRect l="0" t="-246" r="0" b="-24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03326" y="6065645"/>
            <a:ext cx="8251494" cy="4098628"/>
            <a:chOff x="0" y="0"/>
            <a:chExt cx="1278372" cy="6349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8372" cy="634985"/>
            </a:xfrm>
            <a:custGeom>
              <a:avLst/>
              <a:gdLst/>
              <a:ahLst/>
              <a:cxnLst/>
              <a:rect r="r" b="b" t="t" l="l"/>
              <a:pathLst>
                <a:path h="634985" w="1278372">
                  <a:moveTo>
                    <a:pt x="0" y="0"/>
                  </a:moveTo>
                  <a:lnTo>
                    <a:pt x="1278372" y="0"/>
                  </a:lnTo>
                  <a:lnTo>
                    <a:pt x="1278372" y="634985"/>
                  </a:lnTo>
                  <a:lnTo>
                    <a:pt x="0" y="634985"/>
                  </a:lnTo>
                  <a:close/>
                </a:path>
              </a:pathLst>
            </a:custGeom>
            <a:blipFill>
              <a:blip r:embed="rId7"/>
              <a:stretch>
                <a:fillRect l="0" t="-10116" r="0" b="-479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8122" y="3381330"/>
            <a:ext cx="8780819" cy="2474427"/>
            <a:chOff x="0" y="0"/>
            <a:chExt cx="2547510" cy="7178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47510" cy="717886"/>
            </a:xfrm>
            <a:custGeom>
              <a:avLst/>
              <a:gdLst/>
              <a:ahLst/>
              <a:cxnLst/>
              <a:rect r="r" b="b" t="t" l="l"/>
              <a:pathLst>
                <a:path h="717886" w="2547510">
                  <a:moveTo>
                    <a:pt x="31741" y="0"/>
                  </a:moveTo>
                  <a:lnTo>
                    <a:pt x="2515769" y="0"/>
                  </a:lnTo>
                  <a:cubicBezTo>
                    <a:pt x="2524187" y="0"/>
                    <a:pt x="2532261" y="3344"/>
                    <a:pt x="2538213" y="9297"/>
                  </a:cubicBezTo>
                  <a:cubicBezTo>
                    <a:pt x="2544166" y="15249"/>
                    <a:pt x="2547510" y="23323"/>
                    <a:pt x="2547510" y="31741"/>
                  </a:cubicBezTo>
                  <a:lnTo>
                    <a:pt x="2547510" y="686145"/>
                  </a:lnTo>
                  <a:cubicBezTo>
                    <a:pt x="2547510" y="703675"/>
                    <a:pt x="2533299" y="717886"/>
                    <a:pt x="2515769" y="717886"/>
                  </a:cubicBezTo>
                  <a:lnTo>
                    <a:pt x="31741" y="717886"/>
                  </a:lnTo>
                  <a:cubicBezTo>
                    <a:pt x="23323" y="717886"/>
                    <a:pt x="15249" y="714542"/>
                    <a:pt x="9297" y="708589"/>
                  </a:cubicBezTo>
                  <a:cubicBezTo>
                    <a:pt x="3344" y="702637"/>
                    <a:pt x="0" y="694564"/>
                    <a:pt x="0" y="686145"/>
                  </a:cubicBezTo>
                  <a:lnTo>
                    <a:pt x="0" y="31741"/>
                  </a:lnTo>
                  <a:cubicBezTo>
                    <a:pt x="0" y="23323"/>
                    <a:pt x="3344" y="15249"/>
                    <a:pt x="9297" y="9297"/>
                  </a:cubicBezTo>
                  <a:cubicBezTo>
                    <a:pt x="15249" y="3344"/>
                    <a:pt x="23323" y="0"/>
                    <a:pt x="31741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547510" cy="765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3601" y="3474845"/>
            <a:ext cx="8772560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Feature Analysis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Boxplots were used to compar</a:t>
            </a: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 feature</a:t>
            </a: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distributions. Correlation heatmap show</a:t>
            </a: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ed weak relationships between most numerical features.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Many features showed overlapping distributions across addiction classes.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817393" y="6633902"/>
            <a:ext cx="2349620" cy="3653098"/>
          </a:xfrm>
          <a:custGeom>
            <a:avLst/>
            <a:gdLst/>
            <a:ahLst/>
            <a:cxnLst/>
            <a:rect r="r" b="b" t="t" l="l"/>
            <a:pathLst>
              <a:path h="3653098" w="2349620">
                <a:moveTo>
                  <a:pt x="0" y="0"/>
                </a:moveTo>
                <a:lnTo>
                  <a:pt x="2349620" y="0"/>
                </a:lnTo>
                <a:lnTo>
                  <a:pt x="2349620" y="3653098"/>
                </a:lnTo>
                <a:lnTo>
                  <a:pt x="0" y="3653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60734" t="-5463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68122" y="5957178"/>
            <a:ext cx="2184970" cy="3852672"/>
          </a:xfrm>
          <a:custGeom>
            <a:avLst/>
            <a:gdLst/>
            <a:ahLst/>
            <a:cxnLst/>
            <a:rect r="r" b="b" t="t" l="l"/>
            <a:pathLst>
              <a:path h="3852672" w="2184970">
                <a:moveTo>
                  <a:pt x="0" y="0"/>
                </a:moveTo>
                <a:lnTo>
                  <a:pt x="2184970" y="0"/>
                </a:lnTo>
                <a:lnTo>
                  <a:pt x="2184970" y="3852672"/>
                </a:lnTo>
                <a:lnTo>
                  <a:pt x="0" y="38526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87917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534881" y="3631523"/>
            <a:ext cx="2269622" cy="4001935"/>
          </a:xfrm>
          <a:custGeom>
            <a:avLst/>
            <a:gdLst/>
            <a:ahLst/>
            <a:cxnLst/>
            <a:rect r="r" b="b" t="t" l="l"/>
            <a:pathLst>
              <a:path h="4001935" w="2269622">
                <a:moveTo>
                  <a:pt x="0" y="0"/>
                </a:moveTo>
                <a:lnTo>
                  <a:pt x="2269622" y="0"/>
                </a:lnTo>
                <a:lnTo>
                  <a:pt x="2269622" y="4001936"/>
                </a:lnTo>
                <a:lnTo>
                  <a:pt x="0" y="40019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87917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637166" y="6288410"/>
            <a:ext cx="2349620" cy="3653098"/>
          </a:xfrm>
          <a:custGeom>
            <a:avLst/>
            <a:gdLst/>
            <a:ahLst/>
            <a:cxnLst/>
            <a:rect r="r" b="b" t="t" l="l"/>
            <a:pathLst>
              <a:path h="3653098" w="2349620">
                <a:moveTo>
                  <a:pt x="0" y="0"/>
                </a:moveTo>
                <a:lnTo>
                  <a:pt x="2349620" y="0"/>
                </a:lnTo>
                <a:lnTo>
                  <a:pt x="2349620" y="3653098"/>
                </a:lnTo>
                <a:lnTo>
                  <a:pt x="0" y="3653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60734" t="-5463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45724">
            <a:off x="-2470425" y="6030452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34565" y="2364523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70829" y="6343659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1" y="0"/>
                </a:lnTo>
                <a:lnTo>
                  <a:pt x="2342671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70829" y="2868054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3"/>
                </a:lnTo>
                <a:lnTo>
                  <a:pt x="0" y="1239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1177173">
            <a:off x="15978638" y="439441"/>
            <a:ext cx="1967021" cy="3239107"/>
          </a:xfrm>
          <a:custGeom>
            <a:avLst/>
            <a:gdLst/>
            <a:ahLst/>
            <a:cxnLst/>
            <a:rect r="r" b="b" t="t" l="l"/>
            <a:pathLst>
              <a:path h="3239107" w="1967021">
                <a:moveTo>
                  <a:pt x="0" y="0"/>
                </a:moveTo>
                <a:lnTo>
                  <a:pt x="1967022" y="0"/>
                </a:lnTo>
                <a:lnTo>
                  <a:pt x="1967022" y="3239107"/>
                </a:lnTo>
                <a:lnTo>
                  <a:pt x="0" y="32391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43516" y="4107197"/>
            <a:ext cx="8681416" cy="3983066"/>
            <a:chOff x="0" y="0"/>
            <a:chExt cx="2518671" cy="1155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8671" cy="1155576"/>
            </a:xfrm>
            <a:custGeom>
              <a:avLst/>
              <a:gdLst/>
              <a:ahLst/>
              <a:cxnLst/>
              <a:rect r="r" b="b" t="t" l="l"/>
              <a:pathLst>
                <a:path h="1155576" w="2518671">
                  <a:moveTo>
                    <a:pt x="32104" y="0"/>
                  </a:moveTo>
                  <a:lnTo>
                    <a:pt x="2486567" y="0"/>
                  </a:lnTo>
                  <a:cubicBezTo>
                    <a:pt x="2504298" y="0"/>
                    <a:pt x="2518671" y="14373"/>
                    <a:pt x="2518671" y="32104"/>
                  </a:cubicBezTo>
                  <a:lnTo>
                    <a:pt x="2518671" y="1123471"/>
                  </a:lnTo>
                  <a:cubicBezTo>
                    <a:pt x="2518671" y="1141202"/>
                    <a:pt x="2504298" y="1155576"/>
                    <a:pt x="2486567" y="1155576"/>
                  </a:cubicBezTo>
                  <a:lnTo>
                    <a:pt x="32104" y="1155576"/>
                  </a:lnTo>
                  <a:cubicBezTo>
                    <a:pt x="14373" y="1155576"/>
                    <a:pt x="0" y="1141202"/>
                    <a:pt x="0" y="1123471"/>
                  </a:cubicBezTo>
                  <a:lnTo>
                    <a:pt x="0" y="32104"/>
                  </a:lnTo>
                  <a:cubicBezTo>
                    <a:pt x="0" y="14373"/>
                    <a:pt x="14373" y="0"/>
                    <a:pt x="32104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18671" cy="120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49954" y="3720474"/>
            <a:ext cx="7592211" cy="5686497"/>
            <a:chOff x="0" y="0"/>
            <a:chExt cx="1176232" cy="8809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6232" cy="880987"/>
            </a:xfrm>
            <a:custGeom>
              <a:avLst/>
              <a:gdLst/>
              <a:ahLst/>
              <a:cxnLst/>
              <a:rect r="r" b="b" t="t" l="l"/>
              <a:pathLst>
                <a:path h="880987" w="1176232">
                  <a:moveTo>
                    <a:pt x="0" y="0"/>
                  </a:moveTo>
                  <a:lnTo>
                    <a:pt x="1176232" y="0"/>
                  </a:lnTo>
                  <a:lnTo>
                    <a:pt x="1176232" y="880987"/>
                  </a:lnTo>
                  <a:lnTo>
                    <a:pt x="0" y="880987"/>
                  </a:lnTo>
                  <a:close/>
                </a:path>
              </a:pathLst>
            </a:custGeom>
            <a:blipFill>
              <a:blip r:embed="rId12"/>
              <a:stretch>
                <a:fillRect l="0" t="-23" r="0" b="-2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05439" y="4308030"/>
            <a:ext cx="8055377" cy="358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  <a:spcBef>
                <a:spcPct val="0"/>
              </a:spcBef>
            </a:pP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ANOVA an</a:t>
            </a: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alysis was applied to evaluate whether f</a:t>
            </a: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eatures significantly differ across addiction classes.</a:t>
            </a:r>
          </a:p>
          <a:p>
            <a:pPr algn="l">
              <a:lnSpc>
                <a:spcPts val="3577"/>
              </a:lnSpc>
              <a:spcBef>
                <a:spcPct val="0"/>
              </a:spcBef>
            </a:pP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Most numerical features showed weak statistical separation.Only a small number of features were statistically significant.Results suggested weak feature-target relationships.</a:t>
            </a:r>
          </a:p>
          <a:p>
            <a:pPr algn="l">
              <a:lnSpc>
                <a:spcPts val="357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05900" y="1631576"/>
            <a:ext cx="12881664" cy="185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1"/>
              </a:lnSpc>
            </a:pPr>
            <a:r>
              <a:rPr lang="en-US" sz="7041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FEATUR</a:t>
            </a:r>
            <a:r>
              <a:rPr lang="en-US" sz="7041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 SIGNAL ANALYSIS (ANOVA)</a:t>
            </a:r>
          </a:p>
          <a:p>
            <a:pPr algn="l">
              <a:lnSpc>
                <a:spcPts val="7111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491936" y="6062881"/>
            <a:ext cx="2349620" cy="3653098"/>
          </a:xfrm>
          <a:custGeom>
            <a:avLst/>
            <a:gdLst/>
            <a:ahLst/>
            <a:cxnLst/>
            <a:rect r="r" b="b" t="t" l="l"/>
            <a:pathLst>
              <a:path h="3653098" w="2349620">
                <a:moveTo>
                  <a:pt x="0" y="0"/>
                </a:moveTo>
                <a:lnTo>
                  <a:pt x="2349620" y="0"/>
                </a:lnTo>
                <a:lnTo>
                  <a:pt x="2349620" y="3653098"/>
                </a:lnTo>
                <a:lnTo>
                  <a:pt x="0" y="36530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260734" t="-5463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816584" y="3487625"/>
            <a:ext cx="2184970" cy="3852672"/>
          </a:xfrm>
          <a:custGeom>
            <a:avLst/>
            <a:gdLst/>
            <a:ahLst/>
            <a:cxnLst/>
            <a:rect r="r" b="b" t="t" l="l"/>
            <a:pathLst>
              <a:path h="3852672" w="2184970">
                <a:moveTo>
                  <a:pt x="0" y="0"/>
                </a:moveTo>
                <a:lnTo>
                  <a:pt x="2184970" y="0"/>
                </a:lnTo>
                <a:lnTo>
                  <a:pt x="2184970" y="3852672"/>
                </a:lnTo>
                <a:lnTo>
                  <a:pt x="0" y="38526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-287917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245724">
            <a:off x="-2470425" y="6030452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70829" y="6343659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1" y="0"/>
                </a:lnTo>
                <a:lnTo>
                  <a:pt x="2342671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70829" y="863872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2"/>
                </a:lnTo>
                <a:lnTo>
                  <a:pt x="0" y="12391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80275">
            <a:off x="-168036" y="6971302"/>
            <a:ext cx="3433252" cy="3433252"/>
          </a:xfrm>
          <a:custGeom>
            <a:avLst/>
            <a:gdLst/>
            <a:ahLst/>
            <a:cxnLst/>
            <a:rect r="r" b="b" t="t" l="l"/>
            <a:pathLst>
              <a:path h="3433252" w="3433252">
                <a:moveTo>
                  <a:pt x="0" y="0"/>
                </a:moveTo>
                <a:lnTo>
                  <a:pt x="3433252" y="0"/>
                </a:lnTo>
                <a:lnTo>
                  <a:pt x="3433252" y="3433251"/>
                </a:lnTo>
                <a:lnTo>
                  <a:pt x="0" y="34332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628779">
            <a:off x="12374656" y="-4012720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7" y="0"/>
                </a:lnTo>
                <a:lnTo>
                  <a:pt x="8773957" y="7657272"/>
                </a:lnTo>
                <a:lnTo>
                  <a:pt x="0" y="765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264809" y="1182064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72511" y="1717643"/>
            <a:ext cx="5525443" cy="5219449"/>
            <a:chOff x="0" y="0"/>
            <a:chExt cx="1603054" cy="15142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3054" cy="1514278"/>
            </a:xfrm>
            <a:custGeom>
              <a:avLst/>
              <a:gdLst/>
              <a:ahLst/>
              <a:cxnLst/>
              <a:rect r="r" b="b" t="t" l="l"/>
              <a:pathLst>
                <a:path h="1514278" w="1603054">
                  <a:moveTo>
                    <a:pt x="50441" y="0"/>
                  </a:moveTo>
                  <a:lnTo>
                    <a:pt x="1552613" y="0"/>
                  </a:lnTo>
                  <a:cubicBezTo>
                    <a:pt x="1565990" y="0"/>
                    <a:pt x="1578820" y="5314"/>
                    <a:pt x="1588280" y="14774"/>
                  </a:cubicBezTo>
                  <a:cubicBezTo>
                    <a:pt x="1597739" y="24233"/>
                    <a:pt x="1603054" y="37063"/>
                    <a:pt x="1603054" y="50441"/>
                  </a:cubicBezTo>
                  <a:lnTo>
                    <a:pt x="1603054" y="1463837"/>
                  </a:lnTo>
                  <a:cubicBezTo>
                    <a:pt x="1603054" y="1491695"/>
                    <a:pt x="1580470" y="1514278"/>
                    <a:pt x="1552613" y="1514278"/>
                  </a:cubicBezTo>
                  <a:lnTo>
                    <a:pt x="50441" y="1514278"/>
                  </a:lnTo>
                  <a:cubicBezTo>
                    <a:pt x="37063" y="1514278"/>
                    <a:pt x="24233" y="1508964"/>
                    <a:pt x="14774" y="1499504"/>
                  </a:cubicBezTo>
                  <a:cubicBezTo>
                    <a:pt x="5314" y="1490044"/>
                    <a:pt x="0" y="1477215"/>
                    <a:pt x="0" y="1463837"/>
                  </a:cubicBezTo>
                  <a:lnTo>
                    <a:pt x="0" y="50441"/>
                  </a:lnTo>
                  <a:cubicBezTo>
                    <a:pt x="0" y="37063"/>
                    <a:pt x="5314" y="24233"/>
                    <a:pt x="14774" y="14774"/>
                  </a:cubicBezTo>
                  <a:cubicBezTo>
                    <a:pt x="24233" y="5314"/>
                    <a:pt x="37063" y="0"/>
                    <a:pt x="50441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03054" cy="156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82280" y="2295642"/>
            <a:ext cx="4905907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Logistic</a:t>
            </a:r>
            <a:r>
              <a:rPr lang="en-US" b="true" sz="2699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 Regress</a:t>
            </a:r>
            <a:r>
              <a:rPr lang="en-US" b="true" sz="2699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ion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Linear Baseline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Linear probabilistic classifier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Tells us if any linear relationship exists between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features and target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Interpretable via coefficients• max_iter = 1000 (default 100 fails after OHE expansion)</a:t>
            </a:r>
          </a:p>
          <a:p>
            <a:pPr algn="l">
              <a:lnSpc>
                <a:spcPts val="357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607479" y="449117"/>
            <a:ext cx="13902907" cy="185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1"/>
              </a:lnSpc>
            </a:pPr>
            <a:r>
              <a:rPr lang="en-US" sz="7041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ME</a:t>
            </a:r>
            <a:r>
              <a:rPr lang="en-US" sz="7041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THODS - MODEL SELECTION</a:t>
            </a:r>
          </a:p>
          <a:p>
            <a:pPr algn="l">
              <a:lnSpc>
                <a:spcPts val="7111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509523" y="1717643"/>
            <a:ext cx="5525443" cy="5219449"/>
            <a:chOff x="0" y="0"/>
            <a:chExt cx="1603054" cy="15142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03054" cy="1514278"/>
            </a:xfrm>
            <a:custGeom>
              <a:avLst/>
              <a:gdLst/>
              <a:ahLst/>
              <a:cxnLst/>
              <a:rect r="r" b="b" t="t" l="l"/>
              <a:pathLst>
                <a:path h="1514278" w="1603054">
                  <a:moveTo>
                    <a:pt x="50441" y="0"/>
                  </a:moveTo>
                  <a:lnTo>
                    <a:pt x="1552613" y="0"/>
                  </a:lnTo>
                  <a:cubicBezTo>
                    <a:pt x="1565990" y="0"/>
                    <a:pt x="1578820" y="5314"/>
                    <a:pt x="1588280" y="14774"/>
                  </a:cubicBezTo>
                  <a:cubicBezTo>
                    <a:pt x="1597739" y="24233"/>
                    <a:pt x="1603054" y="37063"/>
                    <a:pt x="1603054" y="50441"/>
                  </a:cubicBezTo>
                  <a:lnTo>
                    <a:pt x="1603054" y="1463837"/>
                  </a:lnTo>
                  <a:cubicBezTo>
                    <a:pt x="1603054" y="1491695"/>
                    <a:pt x="1580470" y="1514278"/>
                    <a:pt x="1552613" y="1514278"/>
                  </a:cubicBezTo>
                  <a:lnTo>
                    <a:pt x="50441" y="1514278"/>
                  </a:lnTo>
                  <a:cubicBezTo>
                    <a:pt x="37063" y="1514278"/>
                    <a:pt x="24233" y="1508964"/>
                    <a:pt x="14774" y="1499504"/>
                  </a:cubicBezTo>
                  <a:cubicBezTo>
                    <a:pt x="5314" y="1490044"/>
                    <a:pt x="0" y="1477215"/>
                    <a:pt x="0" y="1463837"/>
                  </a:cubicBezTo>
                  <a:lnTo>
                    <a:pt x="0" y="50441"/>
                  </a:lnTo>
                  <a:cubicBezTo>
                    <a:pt x="0" y="37063"/>
                    <a:pt x="5314" y="24233"/>
                    <a:pt x="14774" y="14774"/>
                  </a:cubicBezTo>
                  <a:cubicBezTo>
                    <a:pt x="24233" y="5314"/>
                    <a:pt x="37063" y="0"/>
                    <a:pt x="50441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03054" cy="156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19291" y="2295642"/>
            <a:ext cx="4905907" cy="43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D</a:t>
            </a:r>
            <a:r>
              <a:rPr lang="en-US" b="true" sz="270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ecision Tree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Non-linear Baseline</a:t>
            </a:r>
          </a:p>
          <a:p>
            <a:pPr algn="ctr">
              <a:lnSpc>
                <a:spcPts val="2160"/>
              </a:lnSpc>
            </a:pP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Captures n</a:t>
            </a: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on-linear feature interactions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Direct comparison with Random Forest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max_depth = 8, min_samples_leaf = 20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Regularized to prevent overfitting on 33 features</a:t>
            </a:r>
          </a:p>
          <a:p>
            <a:pPr algn="ctr">
              <a:lnSpc>
                <a:spcPts val="3577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2444541" y="1717643"/>
            <a:ext cx="5525443" cy="5219449"/>
            <a:chOff x="0" y="0"/>
            <a:chExt cx="1603054" cy="15142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03054" cy="1514278"/>
            </a:xfrm>
            <a:custGeom>
              <a:avLst/>
              <a:gdLst/>
              <a:ahLst/>
              <a:cxnLst/>
              <a:rect r="r" b="b" t="t" l="l"/>
              <a:pathLst>
                <a:path h="1514278" w="1603054">
                  <a:moveTo>
                    <a:pt x="50441" y="0"/>
                  </a:moveTo>
                  <a:lnTo>
                    <a:pt x="1552613" y="0"/>
                  </a:lnTo>
                  <a:cubicBezTo>
                    <a:pt x="1565990" y="0"/>
                    <a:pt x="1578820" y="5314"/>
                    <a:pt x="1588280" y="14774"/>
                  </a:cubicBezTo>
                  <a:cubicBezTo>
                    <a:pt x="1597739" y="24233"/>
                    <a:pt x="1603054" y="37063"/>
                    <a:pt x="1603054" y="50441"/>
                  </a:cubicBezTo>
                  <a:lnTo>
                    <a:pt x="1603054" y="1463837"/>
                  </a:lnTo>
                  <a:cubicBezTo>
                    <a:pt x="1603054" y="1491695"/>
                    <a:pt x="1580470" y="1514278"/>
                    <a:pt x="1552613" y="1514278"/>
                  </a:cubicBezTo>
                  <a:lnTo>
                    <a:pt x="50441" y="1514278"/>
                  </a:lnTo>
                  <a:cubicBezTo>
                    <a:pt x="37063" y="1514278"/>
                    <a:pt x="24233" y="1508964"/>
                    <a:pt x="14774" y="1499504"/>
                  </a:cubicBezTo>
                  <a:cubicBezTo>
                    <a:pt x="5314" y="1490044"/>
                    <a:pt x="0" y="1477215"/>
                    <a:pt x="0" y="1463837"/>
                  </a:cubicBezTo>
                  <a:lnTo>
                    <a:pt x="0" y="50441"/>
                  </a:lnTo>
                  <a:cubicBezTo>
                    <a:pt x="0" y="37063"/>
                    <a:pt x="5314" y="24233"/>
                    <a:pt x="14774" y="14774"/>
                  </a:cubicBezTo>
                  <a:cubicBezTo>
                    <a:pt x="24233" y="5314"/>
                    <a:pt x="37063" y="0"/>
                    <a:pt x="50441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03054" cy="156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754309" y="2295642"/>
            <a:ext cx="4905907" cy="484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Random For</a:t>
            </a:r>
            <a:r>
              <a:rPr lang="en-US" b="true" sz="270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est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Primary Model ★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Ensemb</a:t>
            </a: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le of 300 decision trees (majority vote)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Robust to noise — best for weak-signal data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n_estimators=300, min_samples_leaf=10,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max_features=sqrt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Most appropriate given ANOVA showed near-zero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signal</a:t>
            </a:r>
          </a:p>
          <a:p>
            <a:pPr algn="ctr">
              <a:lnSpc>
                <a:spcPts val="3577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3748776" y="7308703"/>
            <a:ext cx="13184497" cy="2758449"/>
            <a:chOff x="0" y="0"/>
            <a:chExt cx="3825115" cy="8002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25115" cy="800287"/>
            </a:xfrm>
            <a:custGeom>
              <a:avLst/>
              <a:gdLst/>
              <a:ahLst/>
              <a:cxnLst/>
              <a:rect r="r" b="b" t="t" l="l"/>
              <a:pathLst>
                <a:path h="800287" w="3825115">
                  <a:moveTo>
                    <a:pt x="21139" y="0"/>
                  </a:moveTo>
                  <a:lnTo>
                    <a:pt x="3803976" y="0"/>
                  </a:lnTo>
                  <a:cubicBezTo>
                    <a:pt x="3815650" y="0"/>
                    <a:pt x="3825115" y="9464"/>
                    <a:pt x="3825115" y="21139"/>
                  </a:cubicBezTo>
                  <a:lnTo>
                    <a:pt x="3825115" y="779148"/>
                  </a:lnTo>
                  <a:cubicBezTo>
                    <a:pt x="3825115" y="790823"/>
                    <a:pt x="3815650" y="800287"/>
                    <a:pt x="3803976" y="800287"/>
                  </a:cubicBezTo>
                  <a:lnTo>
                    <a:pt x="21139" y="800287"/>
                  </a:lnTo>
                  <a:cubicBezTo>
                    <a:pt x="9464" y="800287"/>
                    <a:pt x="0" y="790823"/>
                    <a:pt x="0" y="779148"/>
                  </a:cubicBezTo>
                  <a:lnTo>
                    <a:pt x="0" y="21139"/>
                  </a:lnTo>
                  <a:cubicBezTo>
                    <a:pt x="0" y="9464"/>
                    <a:pt x="9464" y="0"/>
                    <a:pt x="21139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825115" cy="847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793934" y="7562850"/>
            <a:ext cx="12967701" cy="2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Why</a:t>
            </a:r>
            <a:r>
              <a:rPr lang="en-US" sz="2699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 NOT KNN or SVM?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KNN: After one-hot enc</a:t>
            </a:r>
            <a:r>
              <a:rPr lang="en-US" b="true" sz="2499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oding, feature space expands to 60+ dimensions → distance metrics become unreliable (curse of dimensionali ty)</a:t>
            </a:r>
          </a:p>
          <a:p>
            <a:pPr algn="l">
              <a:lnSpc>
                <a:spcPts val="2999"/>
              </a:lnSpc>
            </a:pP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SVM: Computationally expensive on 2,400+ training samples, no advantage over Random Forest under weak signal</a:t>
            </a:r>
          </a:p>
          <a:p>
            <a:pPr algn="ctr">
              <a:lnSpc>
                <a:spcPts val="35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-2678176" y="7066755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32774" y="9782663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6040">
            <a:off x="15760145" y="40912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2"/>
                </a:lnTo>
                <a:lnTo>
                  <a:pt x="0" y="12391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196" y="7602987"/>
            <a:ext cx="3355017" cy="2684013"/>
          </a:xfrm>
          <a:custGeom>
            <a:avLst/>
            <a:gdLst/>
            <a:ahLst/>
            <a:cxnLst/>
            <a:rect r="r" b="b" t="t" l="l"/>
            <a:pathLst>
              <a:path h="2684013" w="3355017">
                <a:moveTo>
                  <a:pt x="0" y="0"/>
                </a:moveTo>
                <a:lnTo>
                  <a:pt x="3355017" y="0"/>
                </a:lnTo>
                <a:lnTo>
                  <a:pt x="3355017" y="2684013"/>
                </a:lnTo>
                <a:lnTo>
                  <a:pt x="0" y="26840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2859" y="1214242"/>
            <a:ext cx="16469154" cy="96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71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METHODS - HYP</a:t>
            </a:r>
            <a:r>
              <a:rPr lang="en-US" sz="71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ERPARAMETER JUSTIFICATION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64541" y="2539175"/>
            <a:ext cx="5525443" cy="5810649"/>
            <a:chOff x="0" y="0"/>
            <a:chExt cx="7367258" cy="774753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367258" cy="7747531"/>
              <a:chOff x="0" y="0"/>
              <a:chExt cx="1603054" cy="168579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03054" cy="1685798"/>
              </a:xfrm>
              <a:custGeom>
                <a:avLst/>
                <a:gdLst/>
                <a:ahLst/>
                <a:cxnLst/>
                <a:rect r="r" b="b" t="t" l="l"/>
                <a:pathLst>
                  <a:path h="1685798" w="1603054">
                    <a:moveTo>
                      <a:pt x="50441" y="0"/>
                    </a:moveTo>
                    <a:lnTo>
                      <a:pt x="1552613" y="0"/>
                    </a:lnTo>
                    <a:cubicBezTo>
                      <a:pt x="1565990" y="0"/>
                      <a:pt x="1578820" y="5314"/>
                      <a:pt x="1588280" y="14774"/>
                    </a:cubicBezTo>
                    <a:cubicBezTo>
                      <a:pt x="1597739" y="24233"/>
                      <a:pt x="1603054" y="37063"/>
                      <a:pt x="1603054" y="50441"/>
                    </a:cubicBezTo>
                    <a:lnTo>
                      <a:pt x="1603054" y="1635357"/>
                    </a:lnTo>
                    <a:cubicBezTo>
                      <a:pt x="1603054" y="1663215"/>
                      <a:pt x="1580470" y="1685798"/>
                      <a:pt x="1552613" y="1685798"/>
                    </a:cubicBezTo>
                    <a:lnTo>
                      <a:pt x="50441" y="1685798"/>
                    </a:lnTo>
                    <a:cubicBezTo>
                      <a:pt x="37063" y="1685798"/>
                      <a:pt x="24233" y="1680484"/>
                      <a:pt x="14774" y="1671024"/>
                    </a:cubicBezTo>
                    <a:cubicBezTo>
                      <a:pt x="5314" y="1661564"/>
                      <a:pt x="0" y="1648735"/>
                      <a:pt x="0" y="1635357"/>
                    </a:cubicBezTo>
                    <a:lnTo>
                      <a:pt x="0" y="50441"/>
                    </a:lnTo>
                    <a:cubicBezTo>
                      <a:pt x="0" y="37063"/>
                      <a:pt x="5314" y="24233"/>
                      <a:pt x="14774" y="14774"/>
                    </a:cubicBezTo>
                    <a:cubicBezTo>
                      <a:pt x="24233" y="5314"/>
                      <a:pt x="37063" y="0"/>
                      <a:pt x="50441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603054" cy="17334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43098" y="1319703"/>
              <a:ext cx="5081062" cy="676638"/>
              <a:chOff x="0" y="0"/>
              <a:chExt cx="1003666" cy="13365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03666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003666">
                    <a:moveTo>
                      <a:pt x="0" y="0"/>
                    </a:moveTo>
                    <a:lnTo>
                      <a:pt x="1003666" y="0"/>
                    </a:lnTo>
                    <a:lnTo>
                      <a:pt x="1003666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003666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max_iter = 1000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13024" y="500790"/>
              <a:ext cx="6541209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Logistic</a:t>
              </a:r>
              <a:r>
                <a:rPr lang="en-US" b="true" sz="2699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 Regress</a:t>
              </a:r>
              <a:r>
                <a:rPr lang="en-US" b="true" sz="2699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09606" y="2253516"/>
              <a:ext cx="6541209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D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efault 100 fails to converge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 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after one-hot encoding expands the feature space</a:t>
              </a:r>
            </a:p>
            <a:p>
              <a:pPr algn="ctr">
                <a:lnSpc>
                  <a:spcPts val="240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1143098" y="4009165"/>
              <a:ext cx="5081062" cy="676638"/>
              <a:chOff x="0" y="0"/>
              <a:chExt cx="1003666" cy="13365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03666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003666">
                    <a:moveTo>
                      <a:pt x="0" y="0"/>
                    </a:moveTo>
                    <a:lnTo>
                      <a:pt x="1003666" y="0"/>
                    </a:lnTo>
                    <a:lnTo>
                      <a:pt x="1003666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003666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C = 1.0 (tuned)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09606" y="4942978"/>
              <a:ext cx="6541209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Regul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arization strength; tuned via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RandomizedSearchCV over U(0.001, 10)</a:t>
              </a:r>
            </a:p>
            <a:p>
              <a:pPr algn="ctr">
                <a:lnSpc>
                  <a:spcPts val="2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01552" y="2539175"/>
            <a:ext cx="5525443" cy="5810649"/>
            <a:chOff x="0" y="0"/>
            <a:chExt cx="7367258" cy="774753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367258" cy="7747531"/>
              <a:chOff x="0" y="0"/>
              <a:chExt cx="1603054" cy="168579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03054" cy="1685798"/>
              </a:xfrm>
              <a:custGeom>
                <a:avLst/>
                <a:gdLst/>
                <a:ahLst/>
                <a:cxnLst/>
                <a:rect r="r" b="b" t="t" l="l"/>
                <a:pathLst>
                  <a:path h="1685798" w="1603054">
                    <a:moveTo>
                      <a:pt x="50441" y="0"/>
                    </a:moveTo>
                    <a:lnTo>
                      <a:pt x="1552613" y="0"/>
                    </a:lnTo>
                    <a:cubicBezTo>
                      <a:pt x="1565990" y="0"/>
                      <a:pt x="1578820" y="5314"/>
                      <a:pt x="1588280" y="14774"/>
                    </a:cubicBezTo>
                    <a:cubicBezTo>
                      <a:pt x="1597739" y="24233"/>
                      <a:pt x="1603054" y="37063"/>
                      <a:pt x="1603054" y="50441"/>
                    </a:cubicBezTo>
                    <a:lnTo>
                      <a:pt x="1603054" y="1635357"/>
                    </a:lnTo>
                    <a:cubicBezTo>
                      <a:pt x="1603054" y="1663215"/>
                      <a:pt x="1580470" y="1685798"/>
                      <a:pt x="1552613" y="1685798"/>
                    </a:cubicBezTo>
                    <a:lnTo>
                      <a:pt x="50441" y="1685798"/>
                    </a:lnTo>
                    <a:cubicBezTo>
                      <a:pt x="37063" y="1685798"/>
                      <a:pt x="24233" y="1680484"/>
                      <a:pt x="14774" y="1671024"/>
                    </a:cubicBezTo>
                    <a:cubicBezTo>
                      <a:pt x="5314" y="1661564"/>
                      <a:pt x="0" y="1648735"/>
                      <a:pt x="0" y="1635357"/>
                    </a:cubicBezTo>
                    <a:lnTo>
                      <a:pt x="0" y="50441"/>
                    </a:lnTo>
                    <a:cubicBezTo>
                      <a:pt x="0" y="37063"/>
                      <a:pt x="5314" y="24233"/>
                      <a:pt x="14774" y="14774"/>
                    </a:cubicBezTo>
                    <a:cubicBezTo>
                      <a:pt x="24233" y="5314"/>
                      <a:pt x="37063" y="0"/>
                      <a:pt x="50441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603054" cy="17334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13024" y="500790"/>
              <a:ext cx="6541209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D</a:t>
              </a:r>
              <a:r>
                <a:rPr lang="en-US" b="true" sz="2700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ecision Tree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1145188" y="1319703"/>
              <a:ext cx="5081062" cy="676638"/>
              <a:chOff x="0" y="0"/>
              <a:chExt cx="1003666" cy="13365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03666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003666">
                    <a:moveTo>
                      <a:pt x="0" y="0"/>
                    </a:moveTo>
                    <a:lnTo>
                      <a:pt x="1003666" y="0"/>
                    </a:lnTo>
                    <a:lnTo>
                      <a:pt x="1003666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1003666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max_depth = 8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11696" y="2253516"/>
              <a:ext cx="6541209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Prev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ents extreme over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fitting across 33 features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1145188" y="3479633"/>
              <a:ext cx="5081062" cy="676638"/>
              <a:chOff x="0" y="0"/>
              <a:chExt cx="1003666" cy="13365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03666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003666">
                    <a:moveTo>
                      <a:pt x="0" y="0"/>
                    </a:moveTo>
                    <a:lnTo>
                      <a:pt x="1003666" y="0"/>
                    </a:lnTo>
                    <a:lnTo>
                      <a:pt x="1003666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1003666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min_samples_leaf = 20</a:t>
                </a: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11696" y="4413446"/>
              <a:ext cx="6541209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Ensur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es each le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af is statistically meaningful, not just noise</a:t>
              </a:r>
            </a:p>
            <a:p>
              <a:pPr algn="ctr">
                <a:lnSpc>
                  <a:spcPts val="240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1148606" y="5496834"/>
              <a:ext cx="5081062" cy="676638"/>
              <a:chOff x="0" y="0"/>
              <a:chExt cx="1003666" cy="13365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03666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003666">
                    <a:moveTo>
                      <a:pt x="0" y="0"/>
                    </a:moveTo>
                    <a:lnTo>
                      <a:pt x="1003666" y="0"/>
                    </a:lnTo>
                    <a:lnTo>
                      <a:pt x="1003666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1003666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min_samples_split = 5 (tuned)</a:t>
                </a: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415114" y="6430647"/>
              <a:ext cx="6541209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Control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 when a node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 is split further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36570" y="2539175"/>
            <a:ext cx="5525443" cy="5810649"/>
            <a:chOff x="0" y="0"/>
            <a:chExt cx="7367258" cy="774753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7367258" cy="7747531"/>
              <a:chOff x="0" y="0"/>
              <a:chExt cx="1603054" cy="168579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603054" cy="1685798"/>
              </a:xfrm>
              <a:custGeom>
                <a:avLst/>
                <a:gdLst/>
                <a:ahLst/>
                <a:cxnLst/>
                <a:rect r="r" b="b" t="t" l="l"/>
                <a:pathLst>
                  <a:path h="1685798" w="1603054">
                    <a:moveTo>
                      <a:pt x="50441" y="0"/>
                    </a:moveTo>
                    <a:lnTo>
                      <a:pt x="1552613" y="0"/>
                    </a:lnTo>
                    <a:cubicBezTo>
                      <a:pt x="1565990" y="0"/>
                      <a:pt x="1578820" y="5314"/>
                      <a:pt x="1588280" y="14774"/>
                    </a:cubicBezTo>
                    <a:cubicBezTo>
                      <a:pt x="1597739" y="24233"/>
                      <a:pt x="1603054" y="37063"/>
                      <a:pt x="1603054" y="50441"/>
                    </a:cubicBezTo>
                    <a:lnTo>
                      <a:pt x="1603054" y="1635357"/>
                    </a:lnTo>
                    <a:cubicBezTo>
                      <a:pt x="1603054" y="1663215"/>
                      <a:pt x="1580470" y="1685798"/>
                      <a:pt x="1552613" y="1685798"/>
                    </a:cubicBezTo>
                    <a:lnTo>
                      <a:pt x="50441" y="1685798"/>
                    </a:lnTo>
                    <a:cubicBezTo>
                      <a:pt x="37063" y="1685798"/>
                      <a:pt x="24233" y="1680484"/>
                      <a:pt x="14774" y="1671024"/>
                    </a:cubicBezTo>
                    <a:cubicBezTo>
                      <a:pt x="5314" y="1661564"/>
                      <a:pt x="0" y="1648735"/>
                      <a:pt x="0" y="1635357"/>
                    </a:cubicBezTo>
                    <a:lnTo>
                      <a:pt x="0" y="50441"/>
                    </a:lnTo>
                    <a:cubicBezTo>
                      <a:pt x="0" y="37063"/>
                      <a:pt x="5314" y="24233"/>
                      <a:pt x="14774" y="14774"/>
                    </a:cubicBezTo>
                    <a:cubicBezTo>
                      <a:pt x="24233" y="5314"/>
                      <a:pt x="37063" y="0"/>
                      <a:pt x="50441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1603054" cy="17334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413024" y="500790"/>
              <a:ext cx="6541209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Random For</a:t>
              </a:r>
              <a:r>
                <a:rPr lang="en-US" b="true" sz="2700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est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1152592" y="1319703"/>
              <a:ext cx="5081062" cy="676638"/>
              <a:chOff x="0" y="0"/>
              <a:chExt cx="1003666" cy="13365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003666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003666">
                    <a:moveTo>
                      <a:pt x="0" y="0"/>
                    </a:moveTo>
                    <a:lnTo>
                      <a:pt x="1003666" y="0"/>
                    </a:lnTo>
                    <a:lnTo>
                      <a:pt x="1003666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1003666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n_estimators = 300</a:t>
                </a: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419100" y="2253516"/>
              <a:ext cx="6541209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More 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trees = more stable averag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ing on noisy data</a:t>
              </a:r>
            </a:p>
          </p:txBody>
        </p:sp>
        <p:grpSp>
          <p:nvGrpSpPr>
            <p:cNvPr name="Group 47" id="47"/>
            <p:cNvGrpSpPr/>
            <p:nvPr/>
          </p:nvGrpSpPr>
          <p:grpSpPr>
            <a:xfrm rot="0">
              <a:off x="1152592" y="3479633"/>
              <a:ext cx="5081062" cy="676638"/>
              <a:chOff x="0" y="0"/>
              <a:chExt cx="1003666" cy="133657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03666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003666">
                    <a:moveTo>
                      <a:pt x="0" y="0"/>
                    </a:moveTo>
                    <a:lnTo>
                      <a:pt x="1003666" y="0"/>
                    </a:lnTo>
                    <a:lnTo>
                      <a:pt x="1003666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1003666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min_samples_leaf = 10</a:t>
                </a: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19100" y="4413446"/>
              <a:ext cx="6541209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Regulariz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es individual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 trees to reduce overfitting</a:t>
              </a:r>
            </a:p>
            <a:p>
              <a:pPr algn="ctr">
                <a:lnSpc>
                  <a:spcPts val="240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51" id="51"/>
            <p:cNvGrpSpPr/>
            <p:nvPr/>
          </p:nvGrpSpPr>
          <p:grpSpPr>
            <a:xfrm rot="0">
              <a:off x="1156010" y="5496834"/>
              <a:ext cx="5081062" cy="676638"/>
              <a:chOff x="0" y="0"/>
              <a:chExt cx="1003666" cy="13365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03666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003666">
                    <a:moveTo>
                      <a:pt x="0" y="0"/>
                    </a:moveTo>
                    <a:lnTo>
                      <a:pt x="1003666" y="0"/>
                    </a:lnTo>
                    <a:lnTo>
                      <a:pt x="1003666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003666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max_features = sqrt</a:t>
                </a: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422518" y="6430647"/>
              <a:ext cx="6541209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Each split consider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 √n features — ensure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 tree diversity</a:t>
              </a:r>
            </a:p>
            <a:p>
              <a:pPr algn="ctr">
                <a:lnSpc>
                  <a:spcPts val="24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45724">
            <a:off x="-2470425" y="6030452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34565" y="2364523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70829" y="6343659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1" y="0"/>
                </a:lnTo>
                <a:lnTo>
                  <a:pt x="2342671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70829" y="2868054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3"/>
                </a:lnTo>
                <a:lnTo>
                  <a:pt x="0" y="1239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133140" y="651163"/>
            <a:ext cx="14021720" cy="185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1"/>
              </a:lnSpc>
            </a:pPr>
            <a:r>
              <a:rPr lang="en-US" sz="7041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EXPERIMENTS - FEATURE ENGINEERING</a:t>
            </a:r>
          </a:p>
          <a:p>
            <a:pPr algn="l">
              <a:lnSpc>
                <a:spcPts val="711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529822" y="2232602"/>
            <a:ext cx="13279122" cy="2122267"/>
            <a:chOff x="0" y="0"/>
            <a:chExt cx="17705496" cy="28296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4691321" y="0"/>
              <a:ext cx="13014175" cy="2829690"/>
              <a:chOff x="0" y="0"/>
              <a:chExt cx="2032906" cy="44201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32906" cy="442017"/>
              </a:xfrm>
              <a:custGeom>
                <a:avLst/>
                <a:gdLst/>
                <a:ahLst/>
                <a:cxnLst/>
                <a:rect r="r" b="b" t="t" l="l"/>
                <a:pathLst>
                  <a:path h="442017" w="2032906">
                    <a:moveTo>
                      <a:pt x="0" y="0"/>
                    </a:moveTo>
                    <a:lnTo>
                      <a:pt x="2032906" y="0"/>
                    </a:lnTo>
                    <a:lnTo>
                      <a:pt x="2032906" y="442017"/>
                    </a:lnTo>
                    <a:lnTo>
                      <a:pt x="0" y="442017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032906" cy="480117"/>
              </a:xfrm>
              <a:prstGeom prst="rect">
                <a:avLst/>
              </a:prstGeom>
            </p:spPr>
            <p:txBody>
              <a:bodyPr anchor="t" rtlCol="false" tIns="38100" lIns="38100" bIns="38100" rIns="38100"/>
              <a:lstStyle/>
              <a:p>
                <a:pPr algn="l" marL="431799" indent="-215899" lvl="1">
                  <a:lnSpc>
                    <a:spcPts val="2799"/>
                  </a:lnSpc>
                  <a:buFont typeface="Arial"/>
                  <a:buChar char="•"/>
                </a:pPr>
                <a:r>
                  <a:rPr lang="en-US" b="true" sz="1999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Formula: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Sum of all app-category hour columns</a:t>
                </a:r>
              </a:p>
              <a:p>
                <a:pPr algn="l" marL="431799" indent="-215899" lvl="1">
                  <a:lnSpc>
                    <a:spcPts val="2799"/>
                  </a:lnSpc>
                  <a:buFont typeface="Arial"/>
                  <a:buChar char="•"/>
                </a:pPr>
                <a:r>
                  <a:rPr lang="en-US" b="true" sz="1999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Rationale: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Captures total app-mediated screen exposure as a single aggregate, rather than relying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on any single app category. A high sum signals heavy overall usage.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691321" cy="2829690"/>
              <a:chOff x="0" y="0"/>
              <a:chExt cx="732817" cy="44201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32817" cy="442017"/>
              </a:xfrm>
              <a:custGeom>
                <a:avLst/>
                <a:gdLst/>
                <a:ahLst/>
                <a:cxnLst/>
                <a:rect r="r" b="b" t="t" l="l"/>
                <a:pathLst>
                  <a:path h="442017" w="732817">
                    <a:moveTo>
                      <a:pt x="0" y="0"/>
                    </a:moveTo>
                    <a:lnTo>
                      <a:pt x="732817" y="0"/>
                    </a:lnTo>
                    <a:lnTo>
                      <a:pt x="732817" y="442017"/>
                    </a:lnTo>
                    <a:lnTo>
                      <a:pt x="0" y="442017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732817" cy="489642"/>
              </a:xfrm>
              <a:prstGeom prst="rect">
                <a:avLst/>
              </a:prstGeom>
            </p:spPr>
            <p:txBody>
              <a:bodyPr anchor="ctr" rtlCol="false" tIns="64239" lIns="64239" bIns="64239" rIns="64239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total_app_hours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2504439" y="4764454"/>
            <a:ext cx="13279122" cy="2122267"/>
            <a:chOff x="0" y="0"/>
            <a:chExt cx="17705496" cy="282969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4691321" y="0"/>
              <a:ext cx="13014175" cy="2829690"/>
              <a:chOff x="0" y="0"/>
              <a:chExt cx="2032906" cy="4420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032906" cy="442017"/>
              </a:xfrm>
              <a:custGeom>
                <a:avLst/>
                <a:gdLst/>
                <a:ahLst/>
                <a:cxnLst/>
                <a:rect r="r" b="b" t="t" l="l"/>
                <a:pathLst>
                  <a:path h="442017" w="2032906">
                    <a:moveTo>
                      <a:pt x="0" y="0"/>
                    </a:moveTo>
                    <a:lnTo>
                      <a:pt x="2032906" y="0"/>
                    </a:lnTo>
                    <a:lnTo>
                      <a:pt x="2032906" y="442017"/>
                    </a:lnTo>
                    <a:lnTo>
                      <a:pt x="0" y="442017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032906" cy="480117"/>
              </a:xfrm>
              <a:prstGeom prst="rect">
                <a:avLst/>
              </a:prstGeom>
            </p:spPr>
            <p:txBody>
              <a:bodyPr anchor="t" rtlCol="false" tIns="38100" lIns="38100" bIns="38100" rIns="38100"/>
              <a:lstStyle/>
              <a:p>
                <a:pPr algn="l" marL="431799" indent="-215899" lvl="1">
                  <a:lnSpc>
                    <a:spcPts val="2799"/>
                  </a:lnSpc>
                  <a:buFont typeface="Arial"/>
                  <a:buChar char="•"/>
                </a:pPr>
                <a:r>
                  <a:rPr lang="en-US" b="true" sz="1999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Formula: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 b="true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#non-zero app categories / total app categories</a:t>
                </a:r>
              </a:p>
              <a:p>
                <a:pPr algn="l" marL="431799" indent="-215899" lvl="1">
                  <a:lnSpc>
                    <a:spcPts val="2799"/>
                  </a:lnSpc>
                  <a:buFont typeface="Arial"/>
                  <a:buChar char="•"/>
                </a:pPr>
                <a:r>
                  <a:rPr lang="en-US" b="true" sz="1999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Rationale: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 b="true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Measures whether usage is concentrated in one app (low diversity → possibly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b="true" sz="1999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compulsive behavior) or spread across many apps (high diversity → general use)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4691321" cy="2829690"/>
              <a:chOff x="0" y="0"/>
              <a:chExt cx="732817" cy="4420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32817" cy="442017"/>
              </a:xfrm>
              <a:custGeom>
                <a:avLst/>
                <a:gdLst/>
                <a:ahLst/>
                <a:cxnLst/>
                <a:rect r="r" b="b" t="t" l="l"/>
                <a:pathLst>
                  <a:path h="442017" w="732817">
                    <a:moveTo>
                      <a:pt x="0" y="0"/>
                    </a:moveTo>
                    <a:lnTo>
                      <a:pt x="732817" y="0"/>
                    </a:lnTo>
                    <a:lnTo>
                      <a:pt x="732817" y="442017"/>
                    </a:lnTo>
                    <a:lnTo>
                      <a:pt x="0" y="442017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32817" cy="489642"/>
              </a:xfrm>
              <a:prstGeom prst="rect">
                <a:avLst/>
              </a:prstGeom>
            </p:spPr>
            <p:txBody>
              <a:bodyPr anchor="ctr" rtlCol="false" tIns="64239" lIns="64239" bIns="64239" rIns="64239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usage_diversity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2479055" y="7296305"/>
            <a:ext cx="13279122" cy="2368042"/>
            <a:chOff x="0" y="0"/>
            <a:chExt cx="17705496" cy="315738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4691321" y="0"/>
              <a:ext cx="13014175" cy="3157389"/>
              <a:chOff x="0" y="0"/>
              <a:chExt cx="2032906" cy="49320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032906" cy="493206"/>
              </a:xfrm>
              <a:custGeom>
                <a:avLst/>
                <a:gdLst/>
                <a:ahLst/>
                <a:cxnLst/>
                <a:rect r="r" b="b" t="t" l="l"/>
                <a:pathLst>
                  <a:path h="493206" w="2032906">
                    <a:moveTo>
                      <a:pt x="0" y="0"/>
                    </a:moveTo>
                    <a:lnTo>
                      <a:pt x="2032906" y="0"/>
                    </a:lnTo>
                    <a:lnTo>
                      <a:pt x="2032906" y="493206"/>
                    </a:lnTo>
                    <a:lnTo>
                      <a:pt x="0" y="493206"/>
                    </a:ln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032906" cy="531306"/>
              </a:xfrm>
              <a:prstGeom prst="rect">
                <a:avLst/>
              </a:prstGeom>
            </p:spPr>
            <p:txBody>
              <a:bodyPr anchor="t" rtlCol="false" tIns="38100" lIns="38100" bIns="38100" rIns="38100"/>
              <a:lstStyle/>
              <a:p>
                <a:pPr algn="l" marL="431799" indent="-215899" lvl="1">
                  <a:lnSpc>
                    <a:spcPts val="2799"/>
                  </a:lnSpc>
                  <a:buFont typeface="Arial"/>
                  <a:buChar char="•"/>
                </a:pPr>
                <a:r>
                  <a:rPr lang="en-US" b="true" sz="1999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Formula: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D</a:t>
                </a:r>
                <a:r>
                  <a:rPr lang="en-US" sz="19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aily_Screen_Time_Hours / (Sleep_Hours + 0.1)</a:t>
                </a:r>
              </a:p>
              <a:p>
                <a:pPr algn="l" marL="431799" indent="-215899" lvl="1">
                  <a:lnSpc>
                    <a:spcPts val="2799"/>
                  </a:lnSpc>
                  <a:buFont typeface="Arial"/>
                  <a:buChar char="•"/>
                </a:pPr>
                <a:r>
                  <a:rPr lang="en-US" b="true" sz="1999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Rationale: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sz="1999" b="true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Quantifies trade-off between screen exposure and rest. +0.1 prevents division-by-zero.</a:t>
                </a:r>
              </a:p>
              <a:p>
                <a:pPr algn="just">
                  <a:lnSpc>
                    <a:spcPts val="2799"/>
                  </a:lnSpc>
                </a:pPr>
                <a:r>
                  <a:rPr lang="en-US" b="true" sz="1999">
                    <a:solidFill>
                      <a:srgbClr val="FFFFFF"/>
                    </a:solidFill>
                    <a:latin typeface="Milk Tea Font TH Bold"/>
                    <a:ea typeface="Milk Tea Font TH Bold"/>
                    <a:cs typeface="Milk Tea Font TH Bold"/>
                    <a:sym typeface="Milk Tea Font TH Bold"/>
                  </a:rPr>
                  <a:t>Excessive ratios are a clinical marker of problematic phone use.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4691321" cy="3157389"/>
              <a:chOff x="0" y="0"/>
              <a:chExt cx="732817" cy="49320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32817" cy="493206"/>
              </a:xfrm>
              <a:custGeom>
                <a:avLst/>
                <a:gdLst/>
                <a:ahLst/>
                <a:cxnLst/>
                <a:rect r="r" b="b" t="t" l="l"/>
                <a:pathLst>
                  <a:path h="493206" w="732817">
                    <a:moveTo>
                      <a:pt x="0" y="0"/>
                    </a:moveTo>
                    <a:lnTo>
                      <a:pt x="732817" y="0"/>
                    </a:lnTo>
                    <a:lnTo>
                      <a:pt x="732817" y="493206"/>
                    </a:lnTo>
                    <a:lnTo>
                      <a:pt x="0" y="493206"/>
                    </a:lnTo>
                    <a:close/>
                  </a:path>
                </a:pathLst>
              </a:custGeom>
              <a:solidFill>
                <a:srgbClr val="586C6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732817" cy="540831"/>
              </a:xfrm>
              <a:prstGeom prst="rect">
                <a:avLst/>
              </a:prstGeom>
            </p:spPr>
            <p:txBody>
              <a:bodyPr anchor="ctr" rtlCol="false" tIns="64239" lIns="64239" bIns="64239" rIns="64239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FFFFFF"/>
                    </a:solidFill>
                    <a:latin typeface="Milk Tea Font TH"/>
                    <a:ea typeface="Milk Tea Font TH"/>
                    <a:cs typeface="Milk Tea Font TH"/>
                    <a:sym typeface="Milk Tea Font TH"/>
                  </a:rPr>
                  <a:t>screen_to_sleep_ratio</a:t>
                </a:r>
              </a:p>
            </p:txBody>
          </p:sp>
        </p:grpSp>
      </p:grpSp>
      <p:sp>
        <p:nvSpPr>
          <p:cNvPr name="Freeform 29" id="29"/>
          <p:cNvSpPr/>
          <p:nvPr/>
        </p:nvSpPr>
        <p:spPr>
          <a:xfrm flipH="false" flipV="false" rot="0">
            <a:off x="-767886" y="6629039"/>
            <a:ext cx="3404062" cy="4114800"/>
          </a:xfrm>
          <a:custGeom>
            <a:avLst/>
            <a:gdLst/>
            <a:ahLst/>
            <a:cxnLst/>
            <a:rect r="r" b="b" t="t" l="l"/>
            <a:pathLst>
              <a:path h="4114800" w="3404062">
                <a:moveTo>
                  <a:pt x="0" y="0"/>
                </a:moveTo>
                <a:lnTo>
                  <a:pt x="3404062" y="0"/>
                </a:lnTo>
                <a:lnTo>
                  <a:pt x="3404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27436" y="2539175"/>
            <a:ext cx="7101862" cy="6405819"/>
            <a:chOff x="0" y="0"/>
            <a:chExt cx="2060407" cy="1858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0408" cy="1858470"/>
            </a:xfrm>
            <a:custGeom>
              <a:avLst/>
              <a:gdLst/>
              <a:ahLst/>
              <a:cxnLst/>
              <a:rect r="r" b="b" t="t" l="l"/>
              <a:pathLst>
                <a:path h="1858470" w="2060408">
                  <a:moveTo>
                    <a:pt x="39245" y="0"/>
                  </a:moveTo>
                  <a:lnTo>
                    <a:pt x="2021163" y="0"/>
                  </a:lnTo>
                  <a:cubicBezTo>
                    <a:pt x="2031571" y="0"/>
                    <a:pt x="2041553" y="4135"/>
                    <a:pt x="2048913" y="11494"/>
                  </a:cubicBezTo>
                  <a:cubicBezTo>
                    <a:pt x="2056273" y="18854"/>
                    <a:pt x="2060408" y="28836"/>
                    <a:pt x="2060408" y="39245"/>
                  </a:cubicBezTo>
                  <a:lnTo>
                    <a:pt x="2060408" y="1819225"/>
                  </a:lnTo>
                  <a:cubicBezTo>
                    <a:pt x="2060408" y="1829634"/>
                    <a:pt x="2056273" y="1839616"/>
                    <a:pt x="2048913" y="1846975"/>
                  </a:cubicBezTo>
                  <a:cubicBezTo>
                    <a:pt x="2041553" y="1854335"/>
                    <a:pt x="2031571" y="1858470"/>
                    <a:pt x="2021163" y="1858470"/>
                  </a:cubicBezTo>
                  <a:lnTo>
                    <a:pt x="39245" y="1858470"/>
                  </a:lnTo>
                  <a:cubicBezTo>
                    <a:pt x="28836" y="1858470"/>
                    <a:pt x="18854" y="1854335"/>
                    <a:pt x="11494" y="1846975"/>
                  </a:cubicBezTo>
                  <a:cubicBezTo>
                    <a:pt x="4135" y="1839616"/>
                    <a:pt x="0" y="1829634"/>
                    <a:pt x="0" y="1819225"/>
                  </a:cubicBezTo>
                  <a:lnTo>
                    <a:pt x="0" y="39245"/>
                  </a:lnTo>
                  <a:cubicBezTo>
                    <a:pt x="0" y="28836"/>
                    <a:pt x="4135" y="18854"/>
                    <a:pt x="11494" y="11494"/>
                  </a:cubicBezTo>
                  <a:cubicBezTo>
                    <a:pt x="18854" y="4135"/>
                    <a:pt x="28836" y="0"/>
                    <a:pt x="39245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60407" cy="1906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117113">
            <a:off x="-2678176" y="7066755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32774" y="9782663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356040">
            <a:off x="-454846" y="8055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09" y="0"/>
                </a:lnTo>
                <a:lnTo>
                  <a:pt x="2998309" y="1239143"/>
                </a:lnTo>
                <a:lnTo>
                  <a:pt x="0" y="123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8144160"/>
            <a:ext cx="3355017" cy="2684013"/>
          </a:xfrm>
          <a:custGeom>
            <a:avLst/>
            <a:gdLst/>
            <a:ahLst/>
            <a:cxnLst/>
            <a:rect r="r" b="b" t="t" l="l"/>
            <a:pathLst>
              <a:path h="2684013" w="3355017">
                <a:moveTo>
                  <a:pt x="0" y="0"/>
                </a:moveTo>
                <a:lnTo>
                  <a:pt x="3355017" y="0"/>
                </a:lnTo>
                <a:lnTo>
                  <a:pt x="3355017" y="2684013"/>
                </a:lnTo>
                <a:lnTo>
                  <a:pt x="0" y="26840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2859" y="1214242"/>
            <a:ext cx="16469154" cy="96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71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EXPERIMENT</a:t>
            </a:r>
            <a:r>
              <a:rPr lang="en-US" sz="71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1177173">
            <a:off x="15508290" y="18831"/>
            <a:ext cx="1967021" cy="3239107"/>
          </a:xfrm>
          <a:custGeom>
            <a:avLst/>
            <a:gdLst/>
            <a:ahLst/>
            <a:cxnLst/>
            <a:rect r="r" b="b" t="t" l="l"/>
            <a:pathLst>
              <a:path h="3239107" w="1967021">
                <a:moveTo>
                  <a:pt x="0" y="0"/>
                </a:moveTo>
                <a:lnTo>
                  <a:pt x="1967021" y="0"/>
                </a:lnTo>
                <a:lnTo>
                  <a:pt x="1967021" y="3239107"/>
                </a:lnTo>
                <a:lnTo>
                  <a:pt x="0" y="32391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44309" y="2539175"/>
            <a:ext cx="7101862" cy="6405819"/>
            <a:chOff x="0" y="0"/>
            <a:chExt cx="9469149" cy="854109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469149" cy="8541092"/>
              <a:chOff x="0" y="0"/>
              <a:chExt cx="2060407" cy="185847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60408" cy="1858470"/>
              </a:xfrm>
              <a:custGeom>
                <a:avLst/>
                <a:gdLst/>
                <a:ahLst/>
                <a:cxnLst/>
                <a:rect r="r" b="b" t="t" l="l"/>
                <a:pathLst>
                  <a:path h="1858470" w="2060408">
                    <a:moveTo>
                      <a:pt x="39245" y="0"/>
                    </a:moveTo>
                    <a:lnTo>
                      <a:pt x="2021163" y="0"/>
                    </a:lnTo>
                    <a:cubicBezTo>
                      <a:pt x="2031571" y="0"/>
                      <a:pt x="2041553" y="4135"/>
                      <a:pt x="2048913" y="11494"/>
                    </a:cubicBezTo>
                    <a:cubicBezTo>
                      <a:pt x="2056273" y="18854"/>
                      <a:pt x="2060408" y="28836"/>
                      <a:pt x="2060408" y="39245"/>
                    </a:cubicBezTo>
                    <a:lnTo>
                      <a:pt x="2060408" y="1819225"/>
                    </a:lnTo>
                    <a:cubicBezTo>
                      <a:pt x="2060408" y="1829634"/>
                      <a:pt x="2056273" y="1839616"/>
                      <a:pt x="2048913" y="1846975"/>
                    </a:cubicBezTo>
                    <a:cubicBezTo>
                      <a:pt x="2041553" y="1854335"/>
                      <a:pt x="2031571" y="1858470"/>
                      <a:pt x="2021163" y="1858470"/>
                    </a:cubicBezTo>
                    <a:lnTo>
                      <a:pt x="39245" y="1858470"/>
                    </a:lnTo>
                    <a:cubicBezTo>
                      <a:pt x="28836" y="1858470"/>
                      <a:pt x="18854" y="1854335"/>
                      <a:pt x="11494" y="1846975"/>
                    </a:cubicBezTo>
                    <a:cubicBezTo>
                      <a:pt x="4135" y="1839616"/>
                      <a:pt x="0" y="1829634"/>
                      <a:pt x="0" y="1819225"/>
                    </a:cubicBezTo>
                    <a:lnTo>
                      <a:pt x="0" y="39245"/>
                    </a:lnTo>
                    <a:cubicBezTo>
                      <a:pt x="0" y="28836"/>
                      <a:pt x="4135" y="18854"/>
                      <a:pt x="11494" y="11494"/>
                    </a:cubicBezTo>
                    <a:cubicBezTo>
                      <a:pt x="18854" y="4135"/>
                      <a:pt x="28836" y="0"/>
                      <a:pt x="39245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060407" cy="19060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19303" y="179878"/>
              <a:ext cx="8224381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Preprocessing Pipeline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2675" y="1072053"/>
              <a:ext cx="9283799" cy="6428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2" indent="-215901" lvl="1">
                <a:lnSpc>
                  <a:spcPts val="49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Drop User_ID              </a:t>
              </a:r>
              <a:r>
                <a:rPr lang="en-US" sz="2000">
                  <a:solidFill>
                    <a:srgbClr val="586C6E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Row identifier — not a feature</a:t>
              </a:r>
            </a:p>
            <a:p>
              <a:pPr algn="l" marL="431802" indent="-215901" lvl="1">
                <a:lnSpc>
                  <a:spcPts val="49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Clip negatives to 0    </a:t>
              </a:r>
              <a:r>
                <a:rPr lang="en-US" sz="2000">
                  <a:solidFill>
                    <a:srgbClr val="586C6E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e.g. negative screen time — data error</a:t>
              </a:r>
            </a:p>
            <a:p>
              <a:pPr algn="l" marL="431802" indent="-215901" lvl="1">
                <a:lnSpc>
                  <a:spcPts val="49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Mode impute Education_Level     </a:t>
              </a:r>
              <a:r>
                <a:rPr lang="en-US" sz="2000">
                  <a:solidFill>
                    <a:srgbClr val="586C6E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~20% missing values</a:t>
              </a:r>
            </a:p>
            <a:p>
              <a:pPr algn="l" marL="431802" indent="-215901" lvl="1">
                <a:lnSpc>
                  <a:spcPts val="49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Median impute numericals     </a:t>
              </a:r>
              <a:r>
                <a:rPr lang="en-US" sz="2000">
                  <a:solidFill>
                    <a:srgbClr val="586C6E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Robust against outliers</a:t>
              </a:r>
            </a:p>
            <a:p>
              <a:pPr algn="l" marL="431802" indent="-215901" lvl="1">
                <a:lnSpc>
                  <a:spcPts val="49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StandardScaler      </a:t>
              </a:r>
              <a:r>
                <a:rPr lang="en-US" sz="2000">
                  <a:solidFill>
                    <a:srgbClr val="586C6E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Zero mean, unit variance (for LR)</a:t>
              </a:r>
            </a:p>
            <a:p>
              <a:pPr algn="l" marL="431802" indent="-215901" lvl="1">
                <a:lnSpc>
                  <a:spcPts val="49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OneHotEncoder         </a:t>
              </a:r>
              <a:r>
                <a:rPr lang="en-US" sz="2000">
                  <a:solidFill>
                    <a:srgbClr val="586C6E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Categorical → binary columns</a:t>
              </a:r>
            </a:p>
            <a:p>
              <a:pPr algn="l" marL="431802" indent="-215901" lvl="1">
                <a:lnSpc>
                  <a:spcPts val="49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Add composite features    </a:t>
              </a:r>
              <a:r>
                <a:rPr lang="en-US" sz="2000">
                  <a:solidFill>
                    <a:srgbClr val="586C6E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total_app_hours, diversity, ratio</a:t>
              </a:r>
            </a:p>
            <a:p>
              <a:pPr algn="l" marL="431802" indent="-215901" lvl="1">
                <a:lnSpc>
                  <a:spcPts val="49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80/20 stratified split           </a:t>
              </a:r>
              <a:r>
                <a:rPr lang="en-US" sz="2000">
                  <a:solidFill>
                    <a:srgbClr val="586C6E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Test set: 600 samples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70687" y="2648101"/>
            <a:ext cx="6221113" cy="5898738"/>
            <a:chOff x="0" y="0"/>
            <a:chExt cx="8294817" cy="786498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922233" y="1174467"/>
              <a:ext cx="6388512" cy="676638"/>
              <a:chOff x="0" y="0"/>
              <a:chExt cx="1261928" cy="13365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61928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261928">
                    <a:moveTo>
                      <a:pt x="0" y="0"/>
                    </a:moveTo>
                    <a:lnTo>
                      <a:pt x="1261928" y="0"/>
                    </a:lnTo>
                    <a:lnTo>
                      <a:pt x="1261928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261928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5-Fold Stratified Cross-Validation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298" y="-9525"/>
              <a:ext cx="8224381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Evaluation</a:t>
              </a:r>
              <a:r>
                <a:rPr lang="en-US" b="true" sz="2699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 Strategy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108280"/>
              <a:ext cx="8224381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Appli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ed on training set (2,400 samples). Stratified = preserves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 cl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ass balance in each fold.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922233" y="3552905"/>
              <a:ext cx="6388512" cy="676638"/>
              <a:chOff x="0" y="0"/>
              <a:chExt cx="1261928" cy="13365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61928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261928">
                    <a:moveTo>
                      <a:pt x="0" y="0"/>
                    </a:moveTo>
                    <a:lnTo>
                      <a:pt x="1261928" y="0"/>
                    </a:lnTo>
                    <a:lnTo>
                      <a:pt x="1261928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1261928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Held-out 20% Test Set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4486718"/>
              <a:ext cx="8224381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600 sampl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es never seen du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ring training. Final, unbiased performance estimate.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992669" y="5837564"/>
              <a:ext cx="6388512" cy="676638"/>
              <a:chOff x="0" y="0"/>
              <a:chExt cx="1261928" cy="13365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61928" cy="133657"/>
              </a:xfrm>
              <a:custGeom>
                <a:avLst/>
                <a:gdLst/>
                <a:ahLst/>
                <a:cxnLst/>
                <a:rect r="r" b="b" t="t" l="l"/>
                <a:pathLst>
                  <a:path h="133657" w="1261928">
                    <a:moveTo>
                      <a:pt x="0" y="0"/>
                    </a:moveTo>
                    <a:lnTo>
                      <a:pt x="1261928" y="0"/>
                    </a:lnTo>
                    <a:lnTo>
                      <a:pt x="1261928" y="133657"/>
                    </a:lnTo>
                    <a:lnTo>
                      <a:pt x="0" y="133657"/>
                    </a:lnTo>
                    <a:close/>
                  </a:path>
                </a:pathLst>
              </a:custGeom>
              <a:solidFill>
                <a:srgbClr val="455B5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1261928" cy="181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Dummy Baseline (~25.5%)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70436" y="6636258"/>
              <a:ext cx="8224381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Any real model must b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eat this. Represen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ts random guessing on balanced 4-class</a:t>
              </a:r>
            </a:p>
            <a:p>
              <a:pPr algn="just">
                <a:lnSpc>
                  <a:spcPts val="24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problem.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-2678176" y="7066755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294" y="1644134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6040">
            <a:off x="15760145" y="40912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2"/>
                </a:lnTo>
                <a:lnTo>
                  <a:pt x="0" y="12391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6294" y="7212873"/>
            <a:ext cx="2545154" cy="3431754"/>
          </a:xfrm>
          <a:custGeom>
            <a:avLst/>
            <a:gdLst/>
            <a:ahLst/>
            <a:cxnLst/>
            <a:rect r="r" b="b" t="t" l="l"/>
            <a:pathLst>
              <a:path h="3431754" w="2545154">
                <a:moveTo>
                  <a:pt x="0" y="0"/>
                </a:moveTo>
                <a:lnTo>
                  <a:pt x="2545154" y="0"/>
                </a:lnTo>
                <a:lnTo>
                  <a:pt x="2545154" y="3431754"/>
                </a:lnTo>
                <a:lnTo>
                  <a:pt x="0" y="3431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57629" y="521661"/>
            <a:ext cx="15247981" cy="112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0"/>
              </a:lnSpc>
            </a:pPr>
            <a:r>
              <a:rPr lang="en-US" sz="82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</a:t>
            </a:r>
            <a:r>
              <a:rPr lang="en-US" sz="82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ESULTS - MODEL PERFORMANCE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083317" y="2502168"/>
            <a:ext cx="13977877" cy="3852672"/>
            <a:chOff x="0" y="0"/>
            <a:chExt cx="18637169" cy="5136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69536" y="210203"/>
              <a:ext cx="18123067" cy="4716489"/>
            </a:xfrm>
            <a:custGeom>
              <a:avLst/>
              <a:gdLst/>
              <a:ahLst/>
              <a:cxnLst/>
              <a:rect r="r" b="b" t="t" l="l"/>
              <a:pathLst>
                <a:path h="4716489" w="18123067">
                  <a:moveTo>
                    <a:pt x="0" y="0"/>
                  </a:moveTo>
                  <a:lnTo>
                    <a:pt x="18123067" y="0"/>
                  </a:lnTo>
                  <a:lnTo>
                    <a:pt x="18123067" y="4716490"/>
                  </a:lnTo>
                  <a:lnTo>
                    <a:pt x="0" y="4716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13293" cy="5136896"/>
            </a:xfrm>
            <a:custGeom>
              <a:avLst/>
              <a:gdLst/>
              <a:ahLst/>
              <a:cxnLst/>
              <a:rect r="r" b="b" t="t" l="l"/>
              <a:pathLst>
                <a:path h="5136896" w="2913293">
                  <a:moveTo>
                    <a:pt x="0" y="0"/>
                  </a:moveTo>
                  <a:lnTo>
                    <a:pt x="2913293" y="0"/>
                  </a:lnTo>
                  <a:lnTo>
                    <a:pt x="2913293" y="5136896"/>
                  </a:lnTo>
                  <a:lnTo>
                    <a:pt x="0" y="5136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-28791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342" y="266098"/>
              <a:ext cx="3132827" cy="4870798"/>
            </a:xfrm>
            <a:custGeom>
              <a:avLst/>
              <a:gdLst/>
              <a:ahLst/>
              <a:cxnLst/>
              <a:rect r="r" b="b" t="t" l="l"/>
              <a:pathLst>
                <a:path h="4870798" w="3132827">
                  <a:moveTo>
                    <a:pt x="0" y="0"/>
                  </a:moveTo>
                  <a:lnTo>
                    <a:pt x="3132827" y="0"/>
                  </a:lnTo>
                  <a:lnTo>
                    <a:pt x="3132827" y="4870798"/>
                  </a:lnTo>
                  <a:lnTo>
                    <a:pt x="0" y="4870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-260734" t="-5463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31448" y="6686800"/>
            <a:ext cx="14754959" cy="2778569"/>
            <a:chOff x="0" y="0"/>
            <a:chExt cx="4280741" cy="8061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80741" cy="806124"/>
            </a:xfrm>
            <a:custGeom>
              <a:avLst/>
              <a:gdLst/>
              <a:ahLst/>
              <a:cxnLst/>
              <a:rect r="r" b="b" t="t" l="l"/>
              <a:pathLst>
                <a:path h="806124" w="4280741">
                  <a:moveTo>
                    <a:pt x="18889" y="0"/>
                  </a:moveTo>
                  <a:lnTo>
                    <a:pt x="4261851" y="0"/>
                  </a:lnTo>
                  <a:cubicBezTo>
                    <a:pt x="4266861" y="0"/>
                    <a:pt x="4271666" y="1990"/>
                    <a:pt x="4275208" y="5533"/>
                  </a:cubicBezTo>
                  <a:cubicBezTo>
                    <a:pt x="4278750" y="9075"/>
                    <a:pt x="4280741" y="13879"/>
                    <a:pt x="4280741" y="18889"/>
                  </a:cubicBezTo>
                  <a:lnTo>
                    <a:pt x="4280741" y="787235"/>
                  </a:lnTo>
                  <a:cubicBezTo>
                    <a:pt x="4280741" y="797667"/>
                    <a:pt x="4272284" y="806124"/>
                    <a:pt x="4261851" y="806124"/>
                  </a:cubicBezTo>
                  <a:lnTo>
                    <a:pt x="18889" y="806124"/>
                  </a:lnTo>
                  <a:cubicBezTo>
                    <a:pt x="8457" y="806124"/>
                    <a:pt x="0" y="797667"/>
                    <a:pt x="0" y="787235"/>
                  </a:cubicBezTo>
                  <a:lnTo>
                    <a:pt x="0" y="18889"/>
                  </a:lnTo>
                  <a:cubicBezTo>
                    <a:pt x="0" y="8457"/>
                    <a:pt x="8457" y="0"/>
                    <a:pt x="18889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280741" cy="853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16900" y="6850946"/>
            <a:ext cx="14042400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Key F</a:t>
            </a:r>
            <a:r>
              <a:rPr lang="en-US" sz="2499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inding: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All three mode</a:t>
            </a: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ls perform near the random-chance baseline (~25.5%), even after formal hyperparameter tuning. Marginal gains of 1–2 percentage points fall within the cross-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validation standard deviation (~0.01–0.02) and cannot be attributed to genuine learning.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This is likely related to weak feature-target relationships identified during the ANOVA analysis.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-2678176" y="7066755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294" y="1644134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6040">
            <a:off x="15760145" y="40912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2"/>
                </a:lnTo>
                <a:lnTo>
                  <a:pt x="0" y="12391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6843" y="7258300"/>
            <a:ext cx="2625268" cy="2966404"/>
          </a:xfrm>
          <a:custGeom>
            <a:avLst/>
            <a:gdLst/>
            <a:ahLst/>
            <a:cxnLst/>
            <a:rect r="r" b="b" t="t" l="l"/>
            <a:pathLst>
              <a:path h="2966404" w="2625268">
                <a:moveTo>
                  <a:pt x="0" y="0"/>
                </a:moveTo>
                <a:lnTo>
                  <a:pt x="2625268" y="0"/>
                </a:lnTo>
                <a:lnTo>
                  <a:pt x="2625268" y="2966405"/>
                </a:lnTo>
                <a:lnTo>
                  <a:pt x="0" y="29664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15791" y="3262029"/>
            <a:ext cx="10288218" cy="4809279"/>
            <a:chOff x="0" y="0"/>
            <a:chExt cx="13717624" cy="64123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8277" cy="5586498"/>
            </a:xfrm>
            <a:custGeom>
              <a:avLst/>
              <a:gdLst/>
              <a:ahLst/>
              <a:cxnLst/>
              <a:rect r="r" b="b" t="t" l="l"/>
              <a:pathLst>
                <a:path h="5586498" w="3168277">
                  <a:moveTo>
                    <a:pt x="0" y="0"/>
                  </a:moveTo>
                  <a:lnTo>
                    <a:pt x="3168277" y="0"/>
                  </a:lnTo>
                  <a:lnTo>
                    <a:pt x="3168277" y="5586498"/>
                  </a:lnTo>
                  <a:lnTo>
                    <a:pt x="0" y="5586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28791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0310600" y="1115262"/>
              <a:ext cx="3407025" cy="5297110"/>
            </a:xfrm>
            <a:custGeom>
              <a:avLst/>
              <a:gdLst/>
              <a:ahLst/>
              <a:cxnLst/>
              <a:rect r="r" b="b" t="t" l="l"/>
              <a:pathLst>
                <a:path h="5297110" w="3407025">
                  <a:moveTo>
                    <a:pt x="0" y="0"/>
                  </a:moveTo>
                  <a:lnTo>
                    <a:pt x="3407024" y="0"/>
                  </a:lnTo>
                  <a:lnTo>
                    <a:pt x="3407024" y="5297110"/>
                  </a:lnTo>
                  <a:lnTo>
                    <a:pt x="0" y="5297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260734" t="-5463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13429" y="248516"/>
              <a:ext cx="13250703" cy="5896401"/>
            </a:xfrm>
            <a:custGeom>
              <a:avLst/>
              <a:gdLst/>
              <a:ahLst/>
              <a:cxnLst/>
              <a:rect r="r" b="b" t="t" l="l"/>
              <a:pathLst>
                <a:path h="5896401" w="13250703">
                  <a:moveTo>
                    <a:pt x="0" y="0"/>
                  </a:moveTo>
                  <a:lnTo>
                    <a:pt x="13250702" y="0"/>
                  </a:lnTo>
                  <a:lnTo>
                    <a:pt x="13250702" y="5896401"/>
                  </a:lnTo>
                  <a:lnTo>
                    <a:pt x="0" y="5896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57629" y="521661"/>
            <a:ext cx="15247981" cy="112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0"/>
              </a:lnSpc>
            </a:pPr>
            <a:r>
              <a:rPr lang="en-US" sz="82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</a:t>
            </a:r>
            <a:r>
              <a:rPr lang="en-US" sz="82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ESULTS — VISUALIZATIONS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79353" y="3427550"/>
            <a:ext cx="5713634" cy="4643758"/>
            <a:chOff x="0" y="0"/>
            <a:chExt cx="1657652" cy="13472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7652" cy="1347257"/>
            </a:xfrm>
            <a:custGeom>
              <a:avLst/>
              <a:gdLst/>
              <a:ahLst/>
              <a:cxnLst/>
              <a:rect r="r" b="b" t="t" l="l"/>
              <a:pathLst>
                <a:path h="1347257" w="1657652">
                  <a:moveTo>
                    <a:pt x="48780" y="0"/>
                  </a:moveTo>
                  <a:lnTo>
                    <a:pt x="1608872" y="0"/>
                  </a:lnTo>
                  <a:cubicBezTo>
                    <a:pt x="1635812" y="0"/>
                    <a:pt x="1657652" y="21839"/>
                    <a:pt x="1657652" y="48780"/>
                  </a:cubicBezTo>
                  <a:lnTo>
                    <a:pt x="1657652" y="1298477"/>
                  </a:lnTo>
                  <a:cubicBezTo>
                    <a:pt x="1657652" y="1311415"/>
                    <a:pt x="1652513" y="1323822"/>
                    <a:pt x="1643364" y="1332970"/>
                  </a:cubicBezTo>
                  <a:cubicBezTo>
                    <a:pt x="1634217" y="1342118"/>
                    <a:pt x="1621809" y="1347257"/>
                    <a:pt x="1608872" y="1347257"/>
                  </a:cubicBezTo>
                  <a:lnTo>
                    <a:pt x="48780" y="1347257"/>
                  </a:lnTo>
                  <a:cubicBezTo>
                    <a:pt x="35842" y="1347257"/>
                    <a:pt x="23435" y="1342118"/>
                    <a:pt x="14287" y="1332970"/>
                  </a:cubicBezTo>
                  <a:cubicBezTo>
                    <a:pt x="5139" y="1323822"/>
                    <a:pt x="0" y="1311415"/>
                    <a:pt x="0" y="1298477"/>
                  </a:cubicBezTo>
                  <a:lnTo>
                    <a:pt x="0" y="48780"/>
                  </a:lnTo>
                  <a:cubicBezTo>
                    <a:pt x="0" y="35842"/>
                    <a:pt x="5139" y="23435"/>
                    <a:pt x="14287" y="14287"/>
                  </a:cubicBezTo>
                  <a:cubicBezTo>
                    <a:pt x="23435" y="5139"/>
                    <a:pt x="35842" y="0"/>
                    <a:pt x="48780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57652" cy="1394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679353" y="3427550"/>
            <a:ext cx="5416309" cy="497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3643" indent="-321822" lvl="1">
              <a:lnSpc>
                <a:spcPts val="3577"/>
              </a:lnSpc>
              <a:spcBef>
                <a:spcPct val="0"/>
              </a:spcBef>
              <a:buFont typeface="Arial"/>
              <a:buChar char="•"/>
            </a:pP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Random Forest</a:t>
            </a: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achieved slightly higher</a:t>
            </a: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test accuracy, but the improvement remained marginal.</a:t>
            </a:r>
          </a:p>
          <a:p>
            <a:pPr algn="ctr" marL="643643" indent="-321822" lvl="1">
              <a:lnSpc>
                <a:spcPts val="3577"/>
              </a:lnSpc>
              <a:spcBef>
                <a:spcPct val="0"/>
              </a:spcBef>
              <a:buFont typeface="Arial"/>
              <a:buChar char="•"/>
            </a:pP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Hy</a:t>
            </a: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perparameter tuning resulted in only marginal improvements.</a:t>
            </a:r>
          </a:p>
          <a:p>
            <a:pPr algn="ctr" marL="643643" indent="-321822" lvl="1">
              <a:lnSpc>
                <a:spcPts val="3577"/>
              </a:lnSpc>
              <a:spcBef>
                <a:spcPct val="0"/>
              </a:spcBef>
              <a:buFont typeface="Arial"/>
              <a:buChar char="•"/>
            </a:pP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All models p</a:t>
            </a: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erformed close to the random-chance baseline (~25.5%).</a:t>
            </a:r>
          </a:p>
          <a:p>
            <a:pPr algn="ctr">
              <a:lnSpc>
                <a:spcPts val="35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-2678176" y="7066755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294" y="1644134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6040">
            <a:off x="15760145" y="40912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2"/>
                </a:lnTo>
                <a:lnTo>
                  <a:pt x="0" y="12391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028173" y="7358516"/>
            <a:ext cx="14231127" cy="2696113"/>
            <a:chOff x="0" y="0"/>
            <a:chExt cx="4128765" cy="7822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28765" cy="782202"/>
            </a:xfrm>
            <a:custGeom>
              <a:avLst/>
              <a:gdLst/>
              <a:ahLst/>
              <a:cxnLst/>
              <a:rect r="r" b="b" t="t" l="l"/>
              <a:pathLst>
                <a:path h="782202" w="4128765">
                  <a:moveTo>
                    <a:pt x="19584" y="0"/>
                  </a:moveTo>
                  <a:lnTo>
                    <a:pt x="4109181" y="0"/>
                  </a:lnTo>
                  <a:cubicBezTo>
                    <a:pt x="4114375" y="0"/>
                    <a:pt x="4119356" y="2063"/>
                    <a:pt x="4123029" y="5736"/>
                  </a:cubicBezTo>
                  <a:cubicBezTo>
                    <a:pt x="4126702" y="9409"/>
                    <a:pt x="4128765" y="14390"/>
                    <a:pt x="4128765" y="19584"/>
                  </a:cubicBezTo>
                  <a:lnTo>
                    <a:pt x="4128765" y="762618"/>
                  </a:lnTo>
                  <a:cubicBezTo>
                    <a:pt x="4128765" y="767812"/>
                    <a:pt x="4126702" y="772793"/>
                    <a:pt x="4123029" y="776466"/>
                  </a:cubicBezTo>
                  <a:cubicBezTo>
                    <a:pt x="4119356" y="780139"/>
                    <a:pt x="4114375" y="782202"/>
                    <a:pt x="4109181" y="782202"/>
                  </a:cubicBezTo>
                  <a:lnTo>
                    <a:pt x="19584" y="782202"/>
                  </a:lnTo>
                  <a:cubicBezTo>
                    <a:pt x="14390" y="782202"/>
                    <a:pt x="9409" y="780139"/>
                    <a:pt x="5736" y="776466"/>
                  </a:cubicBezTo>
                  <a:cubicBezTo>
                    <a:pt x="2063" y="772793"/>
                    <a:pt x="0" y="767812"/>
                    <a:pt x="0" y="762618"/>
                  </a:cubicBezTo>
                  <a:lnTo>
                    <a:pt x="0" y="19584"/>
                  </a:lnTo>
                  <a:cubicBezTo>
                    <a:pt x="0" y="14390"/>
                    <a:pt x="2063" y="9409"/>
                    <a:pt x="5736" y="5736"/>
                  </a:cubicBezTo>
                  <a:cubicBezTo>
                    <a:pt x="9409" y="2063"/>
                    <a:pt x="14390" y="0"/>
                    <a:pt x="19584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128765" cy="82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033442">
            <a:off x="-38192" y="7896236"/>
            <a:ext cx="2724128" cy="2724128"/>
          </a:xfrm>
          <a:custGeom>
            <a:avLst/>
            <a:gdLst/>
            <a:ahLst/>
            <a:cxnLst/>
            <a:rect r="r" b="b" t="t" l="l"/>
            <a:pathLst>
              <a:path h="2724128" w="2724128">
                <a:moveTo>
                  <a:pt x="0" y="0"/>
                </a:moveTo>
                <a:lnTo>
                  <a:pt x="2724129" y="0"/>
                </a:lnTo>
                <a:lnTo>
                  <a:pt x="2724129" y="2724128"/>
                </a:lnTo>
                <a:lnTo>
                  <a:pt x="0" y="27241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02817" y="2409089"/>
            <a:ext cx="2376208" cy="4189874"/>
          </a:xfrm>
          <a:custGeom>
            <a:avLst/>
            <a:gdLst/>
            <a:ahLst/>
            <a:cxnLst/>
            <a:rect r="r" b="b" t="t" l="l"/>
            <a:pathLst>
              <a:path h="4189874" w="2376208">
                <a:moveTo>
                  <a:pt x="0" y="0"/>
                </a:moveTo>
                <a:lnTo>
                  <a:pt x="2376208" y="0"/>
                </a:lnTo>
                <a:lnTo>
                  <a:pt x="2376208" y="4189874"/>
                </a:lnTo>
                <a:lnTo>
                  <a:pt x="0" y="41898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87917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05394" y="3157084"/>
            <a:ext cx="2555269" cy="3972833"/>
          </a:xfrm>
          <a:custGeom>
            <a:avLst/>
            <a:gdLst/>
            <a:ahLst/>
            <a:cxnLst/>
            <a:rect r="r" b="b" t="t" l="l"/>
            <a:pathLst>
              <a:path h="3972833" w="2555269">
                <a:moveTo>
                  <a:pt x="0" y="0"/>
                </a:moveTo>
                <a:lnTo>
                  <a:pt x="2555269" y="0"/>
                </a:lnTo>
                <a:lnTo>
                  <a:pt x="2555269" y="3972832"/>
                </a:lnTo>
                <a:lnTo>
                  <a:pt x="0" y="39728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60734" t="-5463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03895" y="2634094"/>
            <a:ext cx="13708378" cy="4215326"/>
          </a:xfrm>
          <a:custGeom>
            <a:avLst/>
            <a:gdLst/>
            <a:ahLst/>
            <a:cxnLst/>
            <a:rect r="r" b="b" t="t" l="l"/>
            <a:pathLst>
              <a:path h="4215326" w="13708378">
                <a:moveTo>
                  <a:pt x="0" y="0"/>
                </a:moveTo>
                <a:lnTo>
                  <a:pt x="13708378" y="0"/>
                </a:lnTo>
                <a:lnTo>
                  <a:pt x="13708378" y="4215326"/>
                </a:lnTo>
                <a:lnTo>
                  <a:pt x="0" y="42153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57629" y="521661"/>
            <a:ext cx="15247981" cy="112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0"/>
              </a:lnSpc>
            </a:pPr>
            <a:r>
              <a:rPr lang="en-US" sz="82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</a:t>
            </a:r>
            <a:r>
              <a:rPr lang="en-US" sz="82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ESULTS — VISUALIZATIONS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28173" y="7553999"/>
            <a:ext cx="13975936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3644" indent="-321822" lvl="1">
              <a:lnSpc>
                <a:spcPts val="3577"/>
              </a:lnSpc>
              <a:spcBef>
                <a:spcPct val="0"/>
              </a:spcBef>
              <a:buFont typeface="Arial"/>
              <a:buChar char="•"/>
            </a:pP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The matrices show only a very weak diagonal pattern, while some diagonal values are slightly higher than others, the differences are too small to indicate genuine learning, as predictions remain spread across all classes.</a:t>
            </a:r>
          </a:p>
          <a:p>
            <a:pPr algn="just" marL="643644" indent="-321822" lvl="1">
              <a:lnSpc>
                <a:spcPts val="3577"/>
              </a:lnSpc>
              <a:spcBef>
                <a:spcPct val="0"/>
              </a:spcBef>
              <a:buFont typeface="Arial"/>
              <a:buChar char="•"/>
            </a:pP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</a:t>
            </a: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 models struggled to reliably distinguish addiction levels.</a:t>
            </a:r>
          </a:p>
          <a:p>
            <a:pPr algn="just" marL="643644" indent="-321822" lvl="1">
              <a:lnSpc>
                <a:spcPts val="3577"/>
              </a:lnSpc>
              <a:spcBef>
                <a:spcPct val="0"/>
              </a:spcBef>
              <a:buFont typeface="Arial"/>
              <a:buChar char="•"/>
            </a:pPr>
            <a:r>
              <a:rPr lang="en-US" sz="2981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This behavior is consistent with the low classification accuracies observed earlier.</a:t>
            </a:r>
          </a:p>
          <a:p>
            <a:pPr algn="just">
              <a:lnSpc>
                <a:spcPts val="35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038495">
            <a:off x="-2979174" y="3501894"/>
            <a:ext cx="11899343" cy="10384881"/>
          </a:xfrm>
          <a:custGeom>
            <a:avLst/>
            <a:gdLst/>
            <a:ahLst/>
            <a:cxnLst/>
            <a:rect r="r" b="b" t="t" l="l"/>
            <a:pathLst>
              <a:path h="10384881" w="11899343">
                <a:moveTo>
                  <a:pt x="0" y="0"/>
                </a:moveTo>
                <a:lnTo>
                  <a:pt x="11899343" y="0"/>
                </a:lnTo>
                <a:lnTo>
                  <a:pt x="11899343" y="10384881"/>
                </a:lnTo>
                <a:lnTo>
                  <a:pt x="0" y="1038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8758672" y="7869401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1" y="0"/>
                </a:lnTo>
                <a:lnTo>
                  <a:pt x="10213201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1374" y="2769985"/>
            <a:ext cx="7953395" cy="6843345"/>
            <a:chOff x="0" y="0"/>
            <a:chExt cx="2307456" cy="19854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7456" cy="1985406"/>
            </a:xfrm>
            <a:custGeom>
              <a:avLst/>
              <a:gdLst/>
              <a:ahLst/>
              <a:cxnLst/>
              <a:rect r="r" b="b" t="t" l="l"/>
              <a:pathLst>
                <a:path h="1985406" w="2307456">
                  <a:moveTo>
                    <a:pt x="35043" y="0"/>
                  </a:moveTo>
                  <a:lnTo>
                    <a:pt x="2272413" y="0"/>
                  </a:lnTo>
                  <a:cubicBezTo>
                    <a:pt x="2291767" y="0"/>
                    <a:pt x="2307456" y="15689"/>
                    <a:pt x="2307456" y="35043"/>
                  </a:cubicBezTo>
                  <a:lnTo>
                    <a:pt x="2307456" y="1950363"/>
                  </a:lnTo>
                  <a:cubicBezTo>
                    <a:pt x="2307456" y="1969717"/>
                    <a:pt x="2291767" y="1985406"/>
                    <a:pt x="2272413" y="1985406"/>
                  </a:cubicBezTo>
                  <a:lnTo>
                    <a:pt x="35043" y="1985406"/>
                  </a:lnTo>
                  <a:cubicBezTo>
                    <a:pt x="15689" y="1985406"/>
                    <a:pt x="0" y="1969717"/>
                    <a:pt x="0" y="1950363"/>
                  </a:cubicBezTo>
                  <a:lnTo>
                    <a:pt x="0" y="35043"/>
                  </a:lnTo>
                  <a:cubicBezTo>
                    <a:pt x="0" y="15689"/>
                    <a:pt x="15689" y="0"/>
                    <a:pt x="35043" y="0"/>
                  </a:cubicBezTo>
                  <a:close/>
                </a:path>
              </a:pathLst>
            </a:custGeom>
            <a:solidFill>
              <a:srgbClr val="D68E8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307456" cy="2033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73696" y="1646100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3937" y="388809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1" y="0"/>
                </a:lnTo>
                <a:lnTo>
                  <a:pt x="2342671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15828">
            <a:off x="16029327" y="-12652"/>
            <a:ext cx="2459946" cy="2528917"/>
          </a:xfrm>
          <a:custGeom>
            <a:avLst/>
            <a:gdLst/>
            <a:ahLst/>
            <a:cxnLst/>
            <a:rect r="r" b="b" t="t" l="l"/>
            <a:pathLst>
              <a:path h="2528917" w="2459946">
                <a:moveTo>
                  <a:pt x="0" y="0"/>
                </a:moveTo>
                <a:lnTo>
                  <a:pt x="2459946" y="0"/>
                </a:lnTo>
                <a:lnTo>
                  <a:pt x="2459946" y="2528917"/>
                </a:lnTo>
                <a:lnTo>
                  <a:pt x="0" y="2528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03447" y="966742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2"/>
                </a:lnTo>
                <a:lnTo>
                  <a:pt x="0" y="12391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202602" y="3078176"/>
            <a:ext cx="8559272" cy="5735940"/>
          </a:xfrm>
          <a:custGeom>
            <a:avLst/>
            <a:gdLst/>
            <a:ahLst/>
            <a:cxnLst/>
            <a:rect r="r" b="b" t="t" l="l"/>
            <a:pathLst>
              <a:path h="5735940" w="8559272">
                <a:moveTo>
                  <a:pt x="0" y="0"/>
                </a:moveTo>
                <a:lnTo>
                  <a:pt x="8559272" y="0"/>
                </a:lnTo>
                <a:lnTo>
                  <a:pt x="8559272" y="5735940"/>
                </a:lnTo>
                <a:lnTo>
                  <a:pt x="0" y="57359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779510"/>
            <a:ext cx="7210683" cy="741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All 20 features exceed </a:t>
            </a: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the uniform importance baseline (1/71 = 0.0141), with scores ranging narrowly between ~0.035 and ~0.041.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No single feature stands </a:t>
            </a: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out as dominant — the importances are spread nearly flat across all features, meaning the model could not identify any genuinely predictive signal.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The top-ranked features are Stress Level, Anxiety Score, Income USD, and Work-Related Usage Hours, yet their importance scores are only marginally higher than the rest.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This flat distribution is the fingerprint of a model trained on labels with little to no relationship to the input features.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These findings are consistent with and further support the ANOVA results, which confirmed that almost no feature significantly separates the four addiction classes.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36366" y="655324"/>
            <a:ext cx="12444957" cy="99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736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FEATUR</a:t>
            </a:r>
            <a:r>
              <a:rPr lang="en-US" sz="736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 IMPORTANCE ANALYSIS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410316" y="5058840"/>
            <a:ext cx="2555269" cy="3972833"/>
          </a:xfrm>
          <a:custGeom>
            <a:avLst/>
            <a:gdLst/>
            <a:ahLst/>
            <a:cxnLst/>
            <a:rect r="r" b="b" t="t" l="l"/>
            <a:pathLst>
              <a:path h="3972833" w="2555269">
                <a:moveTo>
                  <a:pt x="0" y="0"/>
                </a:moveTo>
                <a:lnTo>
                  <a:pt x="2555269" y="0"/>
                </a:lnTo>
                <a:lnTo>
                  <a:pt x="2555269" y="3972833"/>
                </a:lnTo>
                <a:lnTo>
                  <a:pt x="0" y="3972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60734" t="-5463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03174" y="2855383"/>
            <a:ext cx="2376208" cy="4189874"/>
          </a:xfrm>
          <a:custGeom>
            <a:avLst/>
            <a:gdLst/>
            <a:ahLst/>
            <a:cxnLst/>
            <a:rect r="r" b="b" t="t" l="l"/>
            <a:pathLst>
              <a:path h="4189874" w="2376208">
                <a:moveTo>
                  <a:pt x="0" y="0"/>
                </a:moveTo>
                <a:lnTo>
                  <a:pt x="2376208" y="0"/>
                </a:lnTo>
                <a:lnTo>
                  <a:pt x="2376208" y="4189874"/>
                </a:lnTo>
                <a:lnTo>
                  <a:pt x="0" y="41898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287917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-2678176" y="7066755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2" y="0"/>
                </a:lnTo>
                <a:lnTo>
                  <a:pt x="10213202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32774" y="9782663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56040">
            <a:off x="-454846" y="80559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09" y="0"/>
                </a:lnTo>
                <a:lnTo>
                  <a:pt x="2998309" y="1239143"/>
                </a:lnTo>
                <a:lnTo>
                  <a:pt x="0" y="123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6290" y="675800"/>
            <a:ext cx="16469154" cy="96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71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CONCLU</a:t>
            </a:r>
            <a:r>
              <a:rPr lang="en-US" sz="712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177173">
            <a:off x="16020598" y="-211786"/>
            <a:ext cx="1967021" cy="3239107"/>
          </a:xfrm>
          <a:custGeom>
            <a:avLst/>
            <a:gdLst/>
            <a:ahLst/>
            <a:cxnLst/>
            <a:rect r="r" b="b" t="t" l="l"/>
            <a:pathLst>
              <a:path h="3239107" w="1967021">
                <a:moveTo>
                  <a:pt x="0" y="0"/>
                </a:moveTo>
                <a:lnTo>
                  <a:pt x="1967021" y="0"/>
                </a:lnTo>
                <a:lnTo>
                  <a:pt x="1967021" y="3239107"/>
                </a:lnTo>
                <a:lnTo>
                  <a:pt x="0" y="3239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737086" y="1848257"/>
            <a:ext cx="7101862" cy="7745743"/>
            <a:chOff x="0" y="0"/>
            <a:chExt cx="9469149" cy="1032765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469149" cy="10327657"/>
              <a:chOff x="0" y="0"/>
              <a:chExt cx="2060407" cy="224721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0408" cy="2247212"/>
              </a:xfrm>
              <a:custGeom>
                <a:avLst/>
                <a:gdLst/>
                <a:ahLst/>
                <a:cxnLst/>
                <a:rect r="r" b="b" t="t" l="l"/>
                <a:pathLst>
                  <a:path h="2247212" w="2060408">
                    <a:moveTo>
                      <a:pt x="39245" y="0"/>
                    </a:moveTo>
                    <a:lnTo>
                      <a:pt x="2021163" y="0"/>
                    </a:lnTo>
                    <a:cubicBezTo>
                      <a:pt x="2031571" y="0"/>
                      <a:pt x="2041553" y="4135"/>
                      <a:pt x="2048913" y="11494"/>
                    </a:cubicBezTo>
                    <a:cubicBezTo>
                      <a:pt x="2056273" y="18854"/>
                      <a:pt x="2060408" y="28836"/>
                      <a:pt x="2060408" y="39245"/>
                    </a:cubicBezTo>
                    <a:lnTo>
                      <a:pt x="2060408" y="2207967"/>
                    </a:lnTo>
                    <a:cubicBezTo>
                      <a:pt x="2060408" y="2218375"/>
                      <a:pt x="2056273" y="2228357"/>
                      <a:pt x="2048913" y="2235717"/>
                    </a:cubicBezTo>
                    <a:cubicBezTo>
                      <a:pt x="2041553" y="2243077"/>
                      <a:pt x="2031571" y="2247212"/>
                      <a:pt x="2021163" y="2247212"/>
                    </a:cubicBezTo>
                    <a:lnTo>
                      <a:pt x="39245" y="2247212"/>
                    </a:lnTo>
                    <a:cubicBezTo>
                      <a:pt x="28836" y="2247212"/>
                      <a:pt x="18854" y="2243077"/>
                      <a:pt x="11494" y="2235717"/>
                    </a:cubicBezTo>
                    <a:cubicBezTo>
                      <a:pt x="4135" y="2228357"/>
                      <a:pt x="0" y="2218375"/>
                      <a:pt x="0" y="2207967"/>
                    </a:cubicBezTo>
                    <a:lnTo>
                      <a:pt x="0" y="39245"/>
                    </a:lnTo>
                    <a:cubicBezTo>
                      <a:pt x="0" y="28836"/>
                      <a:pt x="4135" y="18854"/>
                      <a:pt x="11494" y="11494"/>
                    </a:cubicBezTo>
                    <a:cubicBezTo>
                      <a:pt x="18854" y="4135"/>
                      <a:pt x="28836" y="0"/>
                      <a:pt x="39245" y="0"/>
                    </a:cubicBezTo>
                    <a:close/>
                  </a:path>
                </a:pathLst>
              </a:custGeom>
              <a:solidFill>
                <a:srgbClr val="D68E8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60407" cy="22948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19303" y="179878"/>
              <a:ext cx="8224381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FFFFFF"/>
                  </a:solidFill>
                  <a:latin typeface="Milk Tea Font TH Bold"/>
                  <a:ea typeface="Milk Tea Font TH Bold"/>
                  <a:cs typeface="Milk Tea Font TH Bold"/>
                  <a:sym typeface="Milk Tea Font TH Bold"/>
                </a:rPr>
                <a:t>Key Findings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2675" y="1072053"/>
              <a:ext cx="9283799" cy="8904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✓ All 3 m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odels perform at ~25–27% — 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near random-chance base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line</a:t>
              </a:r>
            </a:p>
            <a:p>
              <a:pPr algn="l">
                <a:lnSpc>
                  <a:spcPts val="49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✓ Near-zero f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eature-targ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et signal confirmed by ANOVA (only 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2/21 features pass 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p&lt;0.05)</a:t>
              </a:r>
            </a:p>
            <a:p>
              <a:pPr algn="l">
                <a:lnSpc>
                  <a:spcPts val="49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✓ Feature importance scores spread flat — n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o predictive s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tructur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</a:t>
              </a:r>
            </a:p>
            <a:p>
              <a:pPr algn="l">
                <a:lnSpc>
                  <a:spcPts val="49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✓ Pipeline and m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ethod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ology are soun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d, limiting factor is the dataset</a:t>
              </a:r>
            </a:p>
            <a:p>
              <a:pPr algn="l">
                <a:lnSpc>
                  <a:spcPts val="49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✓ Th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e dataset may contain weak or unreliable label patterns.</a:t>
              </a:r>
            </a:p>
            <a:p>
              <a:pPr algn="l">
                <a:lnSpc>
                  <a:spcPts val="4900"/>
                </a:lnSpc>
              </a:pP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✓ Hyperparameter tuning confirmed: gains ≤2% → wi</a:t>
              </a:r>
              <a:r>
                <a:rPr lang="en-US" sz="2000">
                  <a:solidFill>
                    <a:srgbClr val="FFFFFF"/>
                  </a:solidFill>
                  <a:latin typeface="Milk Tea Font TH"/>
                  <a:ea typeface="Milk Tea Font TH"/>
                  <a:cs typeface="Milk Tea Font TH"/>
                  <a:sym typeface="Milk Tea Font TH"/>
                </a:rPr>
                <a:t>thin CV std dev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038495">
            <a:off x="-2979174" y="3501894"/>
            <a:ext cx="11899343" cy="10384881"/>
          </a:xfrm>
          <a:custGeom>
            <a:avLst/>
            <a:gdLst/>
            <a:ahLst/>
            <a:cxnLst/>
            <a:rect r="r" b="b" t="t" l="l"/>
            <a:pathLst>
              <a:path h="10384881" w="11899343">
                <a:moveTo>
                  <a:pt x="0" y="0"/>
                </a:moveTo>
                <a:lnTo>
                  <a:pt x="11899343" y="0"/>
                </a:lnTo>
                <a:lnTo>
                  <a:pt x="11899343" y="10384881"/>
                </a:lnTo>
                <a:lnTo>
                  <a:pt x="0" y="1038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8758672" y="7869401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1" y="0"/>
                </a:lnTo>
                <a:lnTo>
                  <a:pt x="10213201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1597" y="1028700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50876" y="9599868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80"/>
                </a:lnTo>
                <a:lnTo>
                  <a:pt x="0" y="2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16316" y="8360725"/>
            <a:ext cx="2998310" cy="1239143"/>
          </a:xfrm>
          <a:custGeom>
            <a:avLst/>
            <a:gdLst/>
            <a:ahLst/>
            <a:cxnLst/>
            <a:rect r="r" b="b" t="t" l="l"/>
            <a:pathLst>
              <a:path h="1239143" w="2998310">
                <a:moveTo>
                  <a:pt x="0" y="0"/>
                </a:moveTo>
                <a:lnTo>
                  <a:pt x="2998310" y="0"/>
                </a:lnTo>
                <a:lnTo>
                  <a:pt x="2998310" y="1239143"/>
                </a:lnTo>
                <a:lnTo>
                  <a:pt x="0" y="123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334812" y="1875401"/>
            <a:ext cx="7618377" cy="7382899"/>
          </a:xfrm>
          <a:custGeom>
            <a:avLst/>
            <a:gdLst/>
            <a:ahLst/>
            <a:cxnLst/>
            <a:rect r="r" b="b" t="t" l="l"/>
            <a:pathLst>
              <a:path h="7382899" w="7618377">
                <a:moveTo>
                  <a:pt x="0" y="0"/>
                </a:moveTo>
                <a:lnTo>
                  <a:pt x="7618376" y="0"/>
                </a:lnTo>
                <a:lnTo>
                  <a:pt x="7618376" y="7382899"/>
                </a:lnTo>
                <a:lnTo>
                  <a:pt x="0" y="7382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55861" y="3315250"/>
            <a:ext cx="5976278" cy="277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sz="7128">
                <a:solidFill>
                  <a:srgbClr val="D68E8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LIVE DEMO  MODEL TE</a:t>
            </a:r>
            <a:r>
              <a:rPr lang="en-US" sz="7128">
                <a:solidFill>
                  <a:srgbClr val="D68E8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STING</a:t>
            </a:r>
          </a:p>
          <a:p>
            <a:pPr algn="ctr">
              <a:lnSpc>
                <a:spcPts val="719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8779">
            <a:off x="12617131" y="-3802939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6" y="0"/>
                </a:lnTo>
                <a:lnTo>
                  <a:pt x="8773956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17113">
            <a:off x="-5141951" y="-991420"/>
            <a:ext cx="8773956" cy="7657271"/>
          </a:xfrm>
          <a:custGeom>
            <a:avLst/>
            <a:gdLst/>
            <a:ahLst/>
            <a:cxnLst/>
            <a:rect r="r" b="b" t="t" l="l"/>
            <a:pathLst>
              <a:path h="7657271" w="8773956">
                <a:moveTo>
                  <a:pt x="0" y="0"/>
                </a:moveTo>
                <a:lnTo>
                  <a:pt x="8773957" y="0"/>
                </a:lnTo>
                <a:lnTo>
                  <a:pt x="8773957" y="7657271"/>
                </a:lnTo>
                <a:lnTo>
                  <a:pt x="0" y="765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17113">
            <a:off x="8758672" y="7869401"/>
            <a:ext cx="10213202" cy="8913340"/>
          </a:xfrm>
          <a:custGeom>
            <a:avLst/>
            <a:gdLst/>
            <a:ahLst/>
            <a:cxnLst/>
            <a:rect r="r" b="b" t="t" l="l"/>
            <a:pathLst>
              <a:path h="8913340" w="10213202">
                <a:moveTo>
                  <a:pt x="0" y="0"/>
                </a:moveTo>
                <a:lnTo>
                  <a:pt x="10213201" y="0"/>
                </a:lnTo>
                <a:lnTo>
                  <a:pt x="10213201" y="8913340"/>
                </a:lnTo>
                <a:lnTo>
                  <a:pt x="0" y="891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00954">
            <a:off x="1342164" y="1240248"/>
            <a:ext cx="3497911" cy="2524856"/>
          </a:xfrm>
          <a:custGeom>
            <a:avLst/>
            <a:gdLst/>
            <a:ahLst/>
            <a:cxnLst/>
            <a:rect r="r" b="b" t="t" l="l"/>
            <a:pathLst>
              <a:path h="2524856" w="3497911">
                <a:moveTo>
                  <a:pt x="0" y="0"/>
                </a:moveTo>
                <a:lnTo>
                  <a:pt x="3497912" y="0"/>
                </a:lnTo>
                <a:lnTo>
                  <a:pt x="3497912" y="2524856"/>
                </a:lnTo>
                <a:lnTo>
                  <a:pt x="0" y="2524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0165">
            <a:off x="1546041" y="4683590"/>
            <a:ext cx="1127144" cy="1577429"/>
          </a:xfrm>
          <a:custGeom>
            <a:avLst/>
            <a:gdLst/>
            <a:ahLst/>
            <a:cxnLst/>
            <a:rect r="r" b="b" t="t" l="l"/>
            <a:pathLst>
              <a:path h="1577429" w="1127144">
                <a:moveTo>
                  <a:pt x="0" y="0"/>
                </a:moveTo>
                <a:lnTo>
                  <a:pt x="1127144" y="0"/>
                </a:lnTo>
                <a:lnTo>
                  <a:pt x="1127144" y="1577428"/>
                </a:lnTo>
                <a:lnTo>
                  <a:pt x="0" y="157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57004" y="8175391"/>
            <a:ext cx="2342670" cy="285380"/>
          </a:xfrm>
          <a:custGeom>
            <a:avLst/>
            <a:gdLst/>
            <a:ahLst/>
            <a:cxnLst/>
            <a:rect r="r" b="b" t="t" l="l"/>
            <a:pathLst>
              <a:path h="285380" w="2342670">
                <a:moveTo>
                  <a:pt x="0" y="0"/>
                </a:moveTo>
                <a:lnTo>
                  <a:pt x="2342670" y="0"/>
                </a:lnTo>
                <a:lnTo>
                  <a:pt x="2342670" y="285379"/>
                </a:lnTo>
                <a:lnTo>
                  <a:pt x="0" y="2853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26160" y="1944955"/>
            <a:ext cx="2625268" cy="2966404"/>
          </a:xfrm>
          <a:custGeom>
            <a:avLst/>
            <a:gdLst/>
            <a:ahLst/>
            <a:cxnLst/>
            <a:rect r="r" b="b" t="t" l="l"/>
            <a:pathLst>
              <a:path h="2966404" w="2625268">
                <a:moveTo>
                  <a:pt x="0" y="0"/>
                </a:moveTo>
                <a:lnTo>
                  <a:pt x="2625268" y="0"/>
                </a:lnTo>
                <a:lnTo>
                  <a:pt x="2625268" y="2966404"/>
                </a:lnTo>
                <a:lnTo>
                  <a:pt x="0" y="29664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31962" y="7015661"/>
            <a:ext cx="1755150" cy="2890218"/>
          </a:xfrm>
          <a:custGeom>
            <a:avLst/>
            <a:gdLst/>
            <a:ahLst/>
            <a:cxnLst/>
            <a:rect r="r" b="b" t="t" l="l"/>
            <a:pathLst>
              <a:path h="2890218" w="1755150">
                <a:moveTo>
                  <a:pt x="0" y="0"/>
                </a:moveTo>
                <a:lnTo>
                  <a:pt x="1755150" y="0"/>
                </a:lnTo>
                <a:lnTo>
                  <a:pt x="1755150" y="2890218"/>
                </a:lnTo>
                <a:lnTo>
                  <a:pt x="0" y="28902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9839" y="6705660"/>
            <a:ext cx="3054804" cy="3224842"/>
          </a:xfrm>
          <a:custGeom>
            <a:avLst/>
            <a:gdLst/>
            <a:ahLst/>
            <a:cxnLst/>
            <a:rect r="r" b="b" t="t" l="l"/>
            <a:pathLst>
              <a:path h="3224842" w="3054804">
                <a:moveTo>
                  <a:pt x="0" y="0"/>
                </a:moveTo>
                <a:lnTo>
                  <a:pt x="3054805" y="0"/>
                </a:lnTo>
                <a:lnTo>
                  <a:pt x="3054805" y="3224841"/>
                </a:lnTo>
                <a:lnTo>
                  <a:pt x="0" y="32248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80507" y="4261278"/>
            <a:ext cx="11347899" cy="173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9"/>
              </a:lnSpc>
              <a:spcBef>
                <a:spcPct val="0"/>
              </a:spcBef>
            </a:pPr>
            <a:r>
              <a:rPr lang="en-US" sz="11258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DAHJIHV0uj4</dc:identifier>
  <dcterms:modified xsi:type="dcterms:W3CDTF">2011-08-01T06:04:30Z</dcterms:modified>
  <cp:revision>1</cp:revision>
  <dc:title>SmartPhone addiction Level</dc:title>
</cp:coreProperties>
</file>